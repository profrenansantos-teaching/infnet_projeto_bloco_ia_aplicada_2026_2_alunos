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Só comece este deck depois de fechar a Aula 7 (bloco B0, 15 min). [15]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[ASK: quem já rodou a coleta e tem um CSV?] Atendimento em paralelo para quem travou. [15–18]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v6 (case-study.md). [BOARD: até ontem eu escolhia a fonte · hoje o usuário traz a dele] [18–21]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[21–22]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[22–24]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[ASK: o que falta depois de hoje? → escrever o PDF e postar os dois links.] [24–25]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Subcompetência 2.3. Nenhum passo desta aula precisa de internet. [25]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da esquerda para a direita. A borda é onde mora a decisão. [25–27]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passo01_upload.py. Richards, p73: flow control é justamente 'esperar até que o usuário tenha enviado o arquivo'. [27–30]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Demonstre no passo01: clique no botão bobo e veja o contador subir com o arquivo ainda lá. [30–33]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passo02 e percorra os 5 exemplos: válido, vazio, só cabeçalho, coluna faltando, latin-1. O app avisa e NUNCA quebra. [33–37]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Verificado: decodificar com BOM em utf-8 puro dá a coluna '\ufeffsecao' e a checagem de 'secao' falha. [37–39]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comentário do defeito está no app.py da v6, no ponto exato — de propósito. [39–41]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[41–43]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Duplas (5 min) + 2 apresentam (3 min). Defeitos: (1) None.getvalue() → AttributeError (QUEBRA); (2) extend sem checar duplicata → 6, depois 9 (ENGANA); (3) decode utf-8 fixo → UnicodeDecodeError, ou BOM virando '\ufeffsecao' (QUEBRA ou ENGANA). Gabarito em activities-key.md. [43–45]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@st.cache_data está no projeto desde a Aula 2. Até hoje ninguém viu o efeito. [45]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é a ideia toda do bloco. Sem os dois números lado a lado, cache é fé. [45–49]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DEMONSTRE AO VIVO no demo v6. [ASK: o que aconteceu com o corpo da função? → não rodou] [49–52]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[52–55]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Mesma tabela da Aula 6, agora no contexto certo. [55–58]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REFERÊNCIA — está no README dos passos. Corte se o tempo apertar. [ref]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REFERÊNCIA se você for mostrar o app ao vivo (e deve). [ref]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aqui que a subcompetência 2.5 realmente mora. [63]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passo04_cache_x_estado.py: as duas lado a lado, com contadores. [63–66]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[ASK: o que exatamente vazaria? → o conteúdo do arquivo de uma pessoa para outra que abriu a mesma URL] [66–70]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[BOARD: escreva o teste na lousa e DEIXE LÁ até o fim da aula] [70–73]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alguém quiser a nuvem desenhada: instale E DECLARE no requirements.txt (Aula 5). [73–78]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Enquanto reconstrói (1–2 min), passe ao checklist. [78–81]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60 s de silêncio de verdade. É o momento em que o aluno descobre o que falta. [81–85]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[85–87]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[87–89]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Recolha. Diz, em três linhas, se a subcompetência 2.5 entrou. [89–90]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nfnet_30a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9549"/>
            <a:ext cx="3108960" cy="803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10312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oogle Sans Text"/>
              </a:rPr>
              <a:t>O arquivo entra, o arquivo 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7091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Google Sans Text"/>
              </a:rPr>
              <a:t>Projeto de Bloco: Inteligência Artificial Aplicada</a:t>
            </a:r>
          </a:p>
          <a:p>
            <a:r>
              <a:rPr sz="1500" b="0" i="0">
                <a:solidFill>
                  <a:srgbClr val="FFFFFF"/>
                </a:solidFill>
                <a:latin typeface="Google Sans Text"/>
              </a:rPr>
              <a:t>Aula 8 · Etapa 4 · Arquivos, cache e estado — o TP2 fecha</a:t>
            </a:r>
          </a:p>
          <a:p>
            <a:r>
              <a:rPr sz="1500" b="0" i="0">
                <a:solidFill>
                  <a:srgbClr val="FFFFFF"/>
                </a:solidFill>
                <a:latin typeface="Google Sans Text"/>
              </a:rPr>
              <a:t>Prof. Renan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Onde paramos (Aula 7) — colher os bilhetes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painel tem duas fontes, e a coleta roda à parte gravando um 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Cada um escolheu uma fonte e verificou o robots.txt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Quem já rodou a coleta tem um CSV — deixe aberto, vamos usar hoje.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coleta grava em data/processed/, e o app só LÊ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a arquitetura que a Aula 7 defendeu: a raspagem quebra, o produto não.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Falta o dado CIRCULAR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Entrar por onde o usuário quiser, e sair quando ele quiser.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Quem não conseguiu raspar ainda: use o CSV do demo — o resto da aula não depende disso.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🎬 Os dois últimos pedidos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gestora abriu o painel com as notícias — e mandou a última mensagem do bloco.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"A analista mantém uma planilha à mão. Dá para juntar no painel sem eu ter que te mandar por e-mail?"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Subcompetência 2.3 — upload e download de arquivos.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"E toda vez que eu mexo num filtro, demora. É normal?"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Subcompetência 2.5 — cache e estado de sessão.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virada: até ontem VOCÊ escolhia a fonte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API que você escolheu, o site que você raspou.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partir de hoje o dado entra por onde o USUÁRIO quiser.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Dado que vem de fora é ENTRADA NÃO CONFIÁVEL. Isso muda o problema.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Onde estamos no Projeto de Bloco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Etapa 4, segunda metade — e é aqui que o TP2 fecha.</a:t>
            </a:r>
          </a:p>
        </p:txBody>
      </p:sp>
      <p:pic>
        <p:nvPicPr>
          <p:cNvPr id="8" name="Picture 7" descr="trilha_10_etapas_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35224"/>
            <a:ext cx="10241280" cy="23134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Objetivos da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Cinco capacidades — e a última é uma decisão, não uma função.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Upload com st.file_uploader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Sabendo que ele devolve o MESMO arquivo em todo rerun.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Validar na borda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Uma função que devolve (linhas, erro) e nunca levanta exceção.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Entregar com download_button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 marcar a PROCEDÊNCIA de cada linha.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Cache com ttl e .clear()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Medindo o efeito — o custo vai para a tela.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Decidir entre cache, estado e nada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Uma pergunta só: esse valor depende de QUEM está olhando?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TP2 fecha 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placar do enunciado, item a item.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✅ Ambiente + Git + deploy  ·  ✅ Interface dinâmica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Aulas 5 e 6.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✅ Extração web com Beautiful Soup, gravando CSV/TXT em data/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Aula 7.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🔜 Upload e download  ·  🔜 Cache e estado  ·  🔜 Nuvem de palavras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Hoje.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⏳ Project Charter + Data Summary Report + o PDF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Seu texto. Depois de hoje, é só isso que falta.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Ao fim da aula, todos os itens TÉCNICOS do TP2 estão feitos no seu projeto.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1 · O arquivo entra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caminho do arquivo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E a caixa amarela do meio é o assunto inteiro do bloco.</a:t>
            </a:r>
          </a:p>
        </p:txBody>
      </p:sp>
      <p:pic>
        <p:nvPicPr>
          <p:cNvPr id="8" name="Picture 7" descr="diagrama_upload_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57400"/>
            <a:ext cx="10241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st.file_uploader: o que ele devolve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passo01_upload.py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enviado = st.file_uploader("Escolha um CSV", type="csv")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if enviado is None: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st.info("Envie um CSV para acrescentar dados ao painel.")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else: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bruto = enviado.getvalue()      # BYTES, não texto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1. devolve None enquanto ninguém enviou   -&gt; proteja TUDO com o if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2. getvalue() devolve bytes               -&gt; a codificação é problema SEU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3. type='csv' filtra pela EXTENSÃO, e só  -&gt; .xlsx renomeado passa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🐛 O upload que multiplica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Tropeço 1 do caso. Envie 3 linhas, clique em qualquer outro widget: aparecem 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st.session_state.enviadas.extend(linhas)   ← o defeito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Clique de novo e viram 9. Nada de errado aparece na tela.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causa é a regra da Aula 6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file_uploader é um WIDGET: devolve um valor, não dispara um evento.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Ele continua devolvendo o mesmo arquivo em TODO rerun, e o extend roda de novo.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correção é a mesma do comparador da Aula 6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ja_tenho = {x['url'] for x in st.session_state.enviadas}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novas = [l for l in linhas if l['url'] not in ja_tenho]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O modelo de execução não vira passado: todo widget novo é uma chance nova de tropeçar.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Validar na BORDA — devolver o erro, não levantá-lo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passo02_validar_na_borda.py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def ler_csv_enviado(conteudo: bytes) -&gt; tuple[list[dict], str]: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if not conteudo: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return [], "O arquivo está vazio."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for codificacao in ("utf-8-sig", "utf-8", "latin-1"):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try: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    texto = conteudo.decode(codificacao); break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except UnicodeDecodeError: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    continue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faltando = [c for c in COLUNAS_OBRIGATORIAS if c not in linhas[0]]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if faltando: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    return [], "Faltam colunas obrigatórias: " + ", ".join(faltando)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Três decisões da borda — e a ordem que engana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Todas discutíveis. Discuta-as.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Devolve o erro; não o levanta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Erro de arquivo do usuário é ROTINA, não exceção. try/except espalhado fica ilegível.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mensagem diz o que fazer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'Faltam colunas obrigatórias: url' é acionável. 'Arquivo inválido' não é.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o princípio do st.stop da Aula 6 — e o livro concorda [Raghavendra, p176].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latin-1 tem de ser a ÚLTIMA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utf-8-sig primeiro: é o que o Excel gera (com BOM). Sem ele a coluna vira '\ufeffsecao'.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latin-1 NUNCA falha: decodifica qualquer byte. Se viesse antes, aceitaria lixo em silêncio.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Valide ANTES de guardar. Depois da borda, o resto do app não desconfia de nada.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🐛 A seção que nascia desmarcada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Tropeço 3 — e ele não apareceu usando o app. Apareceu escrevendo o TESTE.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upload funcionava. A mensagem dizia '3 acrescentadas'. A tabela não mudava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Sem erro, sem aviso, sem tela vermelha.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causa: o multiselect de seções já existia, com a seleção guardada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seção nova entrava nas OPÇÕES e nascia DESMARCADA.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usuário envia o arquivo, recebe a confirmação, e não vê nada.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Quebra × engana — de novo, agora do lado da interface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Foi um teste automatizado, e não um clique, que perguntou: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'a seção enviada está entre as selecionadas?' — e recebeu não.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É o argumento mais concreto que existe a favor de testar interface.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arquivo sai: download e procedência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st.download_button entrega o que está na tela [Raghavendra, p123–124].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Baixe o RECORTE, não a base inteira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usuário leva o que ele vê. Se ele filtrou, o CSV vem filtrado.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Marque a PROCEDÊNCIA de cada linha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tabela mostra 'coletada' × 'enviada'. Dado sem procedência ninguém audita.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 é isso que o Data Summary Report do TP2 cobra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As fontes de dados utilizadas — inclusive as que o usuário trouxe.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O upload que multiplica (A11)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Um trecho de 6 linhas que roda sem erro — e tem TRÊS defeitos.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(1) o que acontece ANTES de o usuário enviar qualquer coisa?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(2) envia 3 linhas e clica em outro widget: quantas linhas a tabela mostra?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(3) o colega envia um CSV exportado do Excel, com acento. O que acontece?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Para cada defeito: ele QUEBRA ou ele ENGANA?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8 min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2 · O cache, com o custo à vista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truque para MEDIR o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@st.cache_data(ttl=3600, show_spinner=False)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def obter_dados():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inicio = time.perf_counter()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dados, fonte = carregar_dados()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return dados, fonte, time.perf_counter() - inicio   # o custo VIAJA junto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relogio = time.perf_counter()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dados, fonte, custo_original = obter_dados()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custo_agora = time.perf_counter() - relogio    # ~0 se o cache respondeu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o tempo devolvido TAMBÉM é cacheado: ele preserva o custo de quando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a função rodou de verdade, e por isso pode ser comparado com o de agora.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Os números — medidos, não estimados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Verificado com AppTest, Streamlit 1.61, contra a API do IBGE.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Primeira execução (cache vazio):  677 ms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chamada de rede aconteceu de verdade.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Reruns seguintes:  1 ms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corpo da função NÃO RODOU. Nem foi executado.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Depois de st.cache_data.clear():  295 ms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Volta a custar — porque a coleta aconteceu de novo.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Mexa num filtro e olhe o número do meio: fica em zero. Clique em Limpar: volta.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invalida o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Quatro coisas, e a primeira é a que você usa todo 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Os parâmetros de entrada [Raghavendra, p185]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Mudei o slider de 20 para 25 palavras? Entrada diferente, recalcula.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Voltei para 20? A entrada antiga continua guardada — serve de novo.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valor de variáveis externas usadas na função · o CORPO da função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Editar a função invalida o cache dela. É por isso que, editando, tudo fica lento.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 o ttl / .clear()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ttl=3600 vence sozinho; st.cache_data.clear() esvazia TODOS os caches do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cache_data × cache_resource · e as APIs que envelheceram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Duas funções de cache, e quatro nomes antigos que você vai encontrar por aí.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@st.cache_data → DADOS (guarda uma cópia)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Listas, dicionários, JSON. É o nosso caso: coleta, CSV, contagem de palavras.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@st.cache_resource → CONEXÕES E MODELOS (guarda o próprio objeto)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Conexão de banco, modelo carregado. Todos mexem no MESMO objeto [Richards, p83].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⚠️ @st.cache · @st.experimental_memo · @st.experimental_singleton · st.experimental_rerun()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→ @st.cache_data · @st.cache_data · @st.cache_resource · st.rerun()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livro é de 2023 [Raghavendra, p186–187]. Todo material sobre biblioteca envelhece.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Livro, tutorial e resposta de IA envelhecem igual. O hábito é rodar e conferir.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Experimente, nesta ordem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passo 3 existe para isto — cinco cliques que ensinam mais do que um parágrafo.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1. Mexa em algo sem mudar o argumento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custo vai a zero.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2. Mude o argumento · 3. Volte ao valor anterior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Volta a custar; e depois zera de novo — a entrada antiga continua lá.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4. Clique em Limpar o cache · 5. Espere o ttl vencer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Tudo volta a custar. O cache não é mágica: é um dicionário com prazo.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⚡ O cache no painel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Os dois números, o botão de limpar, o envio e as palavras — tudo na mesma tela.</a:t>
            </a:r>
          </a:p>
        </p:txBody>
      </p:sp>
      <p:pic>
        <p:nvPicPr>
          <p:cNvPr id="8" name="Picture 7" descr="preview_painel_v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57400"/>
            <a:ext cx="10241280" cy="4069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3 · Duas memórias, uma decisão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Cache × estado de sessão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Mesma palavra ('memória'), duas coisas completamente diferentes.</a:t>
            </a:r>
          </a:p>
        </p:txBody>
      </p:sp>
      <p:pic>
        <p:nvPicPr>
          <p:cNvPr id="8" name="Picture 7" descr="diagrama_cache_vs_e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57400"/>
            <a:ext cx="10241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Os dois erros simétricos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Trocar uma pela outra dá dois bugs opostos — e o segundo não é sobre velocidade.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Coleta cara guardada em session_state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Funciona. E faz cada visitante pagar a chamada de rede outra vez.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Dado do usuário guardado em @st.cache_data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próximo visitante vê o arquivo do anterior.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Não é problema de performance: é VAZAMENTO.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 livro é explícito: "…called with the same parameters BY ANOTHER USER…"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…Streamlit carrega o resultado da memória [Richards, p83]. Leia devagar.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Esta quase aconteceu no demo: 'ler CSV é caro, vou cachear'. Seria vazamento.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teste que decide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Uma pergunta só — e ela resolve todos os casos do seu TP2.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Esse valor depende de QUEM está olhando?  →  SIM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st.session_state. O CSV enviado, as UFs marcadas, os filtros deste usuário.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Não, e é caro de calcular?  →  @st.cache_data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coleta do IBGE, a leitura do CSV do repositório, a contagem de palavras.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Nem uma coisa nem outra?  →  variável comum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Uma soma sobre lista que já está na memória não precisa de memória nenhuma.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Memória 'por precaução' custa RAM e custa depuração.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É a RAZÃO DE ESTADO da Aula 6 — agora com duas memórias para escolher.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 nuvem de palavras que o TP2 pede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Por dentro, uma nuvem de palavras é uma contagem — e contagem é biblioteca padrão.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Counter + st.bar_chart, sem dependência nova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wordcloud + matplotlib são duas bibliotecas pesadas para um efeito visual.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Por que barras e não a nuvem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nuvem NÃO TEM ESCALA: você vê que é maior, não sabe se é o dobro ou dez vezes.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🐛 A primeira contagem trouxe 'pelo', 'pela', 'pode', 'grande'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lista de palavras vazias cresceu OLHANDO O RESULTADO — e mora visível no código.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que conta como 'palavra vazia' é decisão editorial SUA, não da biblioteca.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Vale para a nuvem e para qualquer recorte que você apresente como se fosse neutro.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E agora, ao vivo: publicar a v6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add .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commit -m "v6: upload de CSV, cache medido e nuvem de palavras"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git push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Recarregue a URL. É a Competência 2 inteira, de ponta a ponta: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  ambiente (5) -&gt; publicação (5) -&gt; interação (6)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  -&gt; extração web (7) -&gt; arquivos, cache e estado (hoje)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Checklist de fechamento do TP2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Percorra na tela. Sessenta segundos de silêncio no fim, para conferirem.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Ambiente, Git, deploy (5) · interface dinâmica (6)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Já entregues.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Scraping com Beautiful Soup, à parte, gravando CSV/TXT em data/ (7)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Com robots.txt verificado e a fonte citada no app.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Upload · download · cache · estado · palavras (hoje)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Cada um no seu lugar, e o teste da lousa justifica a escolha.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Project Charter + Data Summary Report + o PDF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nome_sobrenome_PB_TP2.PDF + link do repositório + link do app no 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[ASK] Qual desses ainda está faltando no SEU projeto?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Princípios que levamos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Quatro frases que sobrevivem à próxima versão do Streamlit.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Validar na borda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Uma vez, na entrada, com erro acionável. Depois dela, o dado de fora é como o de dentro.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Dado tem procedência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Marque de onde veio cada linha. É o que permite auditar depois.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Ferramenta invisível não se aprende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cache só virou conceito quando o custo apareceu em ms, com um botão para zerá-lo.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Memória se pede quando se precisa — e se escolhe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Depende de quem está olhando?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🎬 O caso, em 3 lições (v6)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que a v6 ensinou, na ordem em que doeu.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Arquivo de fora é entrada não confiável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 a hora de conferir é na borda — uma vez só.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Cache e estado respondem a perguntas diferentes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Trocá-los dá trabalho repetido, ou o dado de um usuário aparecendo para outro.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Ferramenta invisível não se aprende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Meça e mostre. Um número na tela ensina mais que um parágrafo sobre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Etapa 5: o painel ficou grande demais para uma página só — aplicações multipáginas.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Bilhete de saída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No SEU projeto, aponte: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· uma coisa que deve ir para @st.cache_data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· uma que deve ir para st.session_state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· uma que não precisa de nenhum dos dois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Justifique cada uma com: 'depende de quem está olhando?'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3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