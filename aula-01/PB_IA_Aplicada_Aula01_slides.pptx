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241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37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Boas-vindas. Hoje começamos o projeto que nos acompanha o bloco todo. [0–1]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Mostre o produto final. Fixe o destino antes da viagem. [1–2]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Torne explícita a progressão. [2–4]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etapa acrescenta uma peça ao MESMO projeto. Competências sempre visíveis. [4–6]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Valores do curso (coordenação): transparência primeiro. [6–8]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[ASK] Colher: problema mal definido, dados ruins, código bagunçado, ninguém usa. Viram fases do método. [8–9]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Transversal: IA copiloto. [9–11]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Apresente o TP1. [11–12]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Antes de uma linha de código: que decisão apoiamos? [12]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Apresente o estudo de caso (ver case-study.md) — o fio condutor da aula. [~12]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Linguagem de NEGÓCIO (notes §2.1). [12–16]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leme do projeto (notes §2). [16–19]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Faça ao vivo com uma ideia da turma. [19–21]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tipo define o que o projeto entrega. [ASK: sua pergunta é de que tipo?] [21–25]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Exemplo 2.1. [25–27]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A1. Debrief: 'a pergunta diz qual dado buscar? de que tipo é?' Colha 2–3. [27–32]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Temos o problema; como conduzir sem virar caos? [32]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Por que método (notes §3). [32–34]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Detalhamos fase a fase nos próximos 2 slides. Origem: consórcio industrial, 1996. [George, p46] [34–36]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Fase 1: objetivos + pergunta afiada + KPIs → Charter (notes §3.1). [36–37]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Fase 2: EDA + qualidade → Data Summary. [37–39]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Fase 3: limpeza/transformação → dataset. [39–41]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Fase 4: técnica que responde à pergunta. Preview (passar rápido). [41–42]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Fase 5: avaliar contra o negócio → go/no-go. Preview. [42–43]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Fase 6: entregar + acompanhar uso. Fecha o ciclo (volta ao Negócio). [43–44]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PRINCÍPIO (custo-da-mudança): o custo de corrigir cresce a cada fase. Ex.: perceber que a ONG queria DECIDIR (não prever) na Fase 1 = reescrever 1 frase; depois do deploy = semanas perdidas. Planejar não atrasa — antecipa a correção onde é barata. [princípio de fundo]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CAMADA CRÍTICA. As limitações motivam o TDSP (que George chama de melhor escolha hoje). [crítica]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ANTI-PADRÕES gerais (complementam os 'Bastidores' autênticos). Memoráveis. [histórias de guerra]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Detalhamos no próximo slide. [Microsoft TDSP] [~46]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Um estágio por linha (notes §3.2). [44–46]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Complementares, não concorrentes (notes §3.3). [46–49]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[George, p47] [49–51]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CAMADA COMPARATIVA. Situa o aluno no ecossistema. [Agile/Scrum/Kanban: George, p48]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Exemplo concreto de iteração (notes §3.4). [51–54]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Mapeie o método ao demo. [54–56]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Peer instruction. Resposta B. Distratores = misconcepções. [53–61]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método vira pastas, documentos e a forma de guardar os dados. [59]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pasta mapeia uma fase. requirements.txt na RAIZ = contrato de ambiente. [59–62]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Mostre docs/project_charter.md. [62–64]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Mostre docs/data_summary_report.md. [64–66]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Tríade da área [Esppenchutz, p118,122,142]. [66–70]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Histórias de guerra AUTÊNTICAS (case-study.md). Conecte às fases 2–3 do CRISP. [~68]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Obj4. Transparência (notes §4.3). [70–72]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csv é biblioteca padrão (não instala). DictReader entrega cada linha como dicionário. [72–75]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Código GUIADO: o app.py já existe; explicamos bloco a bloco e rodamos junto. [75]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[Raghavendra, p18–19]. [75–77]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[ASK: por que venv?] Peça ambiente pré-instalado. requirements.txt = 1 linha. [77–79]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set_page_config é a 1ª chamada. markdown aceita links. Parte 4 do TP1. [79–81]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Reaproveita carregar_amostra (csv + lista de dicts). Sem pandas. [81–82]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st.columns responsivas; contas em Python puro (len/set/sum). [82–83]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Ponto-chave: estruturas nativas bastam. dataframe interativo vs table estático. [83–84]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Ao salvar: Rerun/Always rerun. Amarre ao TP1 (Parte 4). Aula 2: coleta via API (json). [84–85]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Mini-exemplo: peça à IA para explicar st.dataframe e valide. [85–86]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Payoff do estudo de caso (case-study.md). [~85]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Peça a um aluno para resumir antes. [86–88]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Faremos a coleta real via API por cima disso. [88–89]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Recolha. Alimenta a abertura da Aula 2. Encerre. [89–90]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infnet_30an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89549"/>
            <a:ext cx="3108960" cy="8039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10312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oogle Sans Text"/>
              </a:rPr>
              <a:t>Planejamento de projeto de Ciência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7091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 dirty="0" err="1">
                <a:solidFill>
                  <a:srgbClr val="FFFFFF"/>
                </a:solidFill>
                <a:latin typeface="Google Sans Text"/>
              </a:rPr>
              <a:t>Projeto</a:t>
            </a:r>
            <a:r>
              <a:rPr sz="1800" b="1" i="0" dirty="0">
                <a:solidFill>
                  <a:srgbClr val="FFFFFF"/>
                </a:solidFill>
                <a:latin typeface="Google Sans Text"/>
              </a:rPr>
              <a:t> de Bloco: </a:t>
            </a:r>
            <a:r>
              <a:rPr sz="1800" b="1" i="0" dirty="0" err="1">
                <a:solidFill>
                  <a:srgbClr val="FFFFFF"/>
                </a:solidFill>
                <a:latin typeface="Google Sans Text"/>
              </a:rPr>
              <a:t>Inteligência</a:t>
            </a:r>
            <a:r>
              <a:rPr sz="1800" b="1" i="0" dirty="0">
                <a:solidFill>
                  <a:srgbClr val="FFFFFF"/>
                </a:solidFill>
                <a:latin typeface="Google Sans Text"/>
              </a:rPr>
              <a:t> Artificial </a:t>
            </a:r>
            <a:r>
              <a:rPr sz="1800" b="1" i="0" dirty="0" err="1">
                <a:solidFill>
                  <a:srgbClr val="FFFFFF"/>
                </a:solidFill>
                <a:latin typeface="Google Sans Text"/>
              </a:rPr>
              <a:t>Aplicada</a:t>
            </a:r>
            <a:endParaRPr sz="1800" b="1" i="0" dirty="0">
              <a:solidFill>
                <a:srgbClr val="FFFFFF"/>
              </a:solidFill>
              <a:latin typeface="Google Sans Text"/>
            </a:endParaRPr>
          </a:p>
          <a:p>
            <a:r>
              <a:rPr sz="1500" b="0" i="0" dirty="0">
                <a:solidFill>
                  <a:srgbClr val="FFFFFF"/>
                </a:solidFill>
                <a:latin typeface="Google Sans Text"/>
              </a:rPr>
              <a:t>Aula 1 · Etapa 1</a:t>
            </a:r>
          </a:p>
          <a:p>
            <a:r>
              <a:rPr sz="1500" b="0" i="0" dirty="0">
                <a:solidFill>
                  <a:srgbClr val="FFFFFF"/>
                </a:solidFill>
                <a:latin typeface="Google Sans Text"/>
              </a:rPr>
              <a:t>Prof. Renan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que vamos construir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Um painel de indicadores sustentáveis do Brasil, com dados abertos do IBGE.</a:t>
            </a:r>
          </a:p>
        </p:txBody>
      </p:sp>
      <p:pic>
        <p:nvPicPr>
          <p:cNvPr id="8" name="Picture 7" descr="preview_painel_o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085" y="2057400"/>
            <a:ext cx="5565333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De onde você vem — e para onde vamos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bloco foi desenhado para quem vem direto do bloco de entrada — e constrói a partir daí.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270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 dirty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Você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já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domina</a:t>
            </a:r>
            <a:r>
              <a:rPr lang="pt-BR" sz="2000" b="1" i="0" dirty="0">
                <a:solidFill>
                  <a:srgbClr val="22303C"/>
                </a:solidFill>
                <a:latin typeface="Google Sans Text"/>
              </a:rPr>
              <a:t> (ou quase)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 Python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básico</a:t>
            </a:r>
            <a:endParaRPr sz="2000" b="1" i="0" dirty="0">
              <a:solidFill>
                <a:srgbClr val="22303C"/>
              </a:solidFill>
              <a:latin typeface="Google Sans Text"/>
            </a:endParaRPr>
          </a:p>
          <a:p>
            <a:pPr lvl="1">
              <a:spcAft>
                <a:spcPts val="100"/>
              </a:spcAft>
            </a:pP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Variáveis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, if/for,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funções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,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listas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e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dicionários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.</a:t>
            </a:r>
          </a:p>
          <a:p>
            <a:pPr lvl="1">
              <a:spcAft>
                <a:spcPts val="900"/>
              </a:spcAft>
            </a:pPr>
            <a:r>
              <a:rPr sz="1450" b="0" i="0" dirty="0">
                <a:solidFill>
                  <a:srgbClr val="5B6B7B"/>
                </a:solidFill>
                <a:latin typeface="Google Sans Text"/>
              </a:rPr>
              <a:t>É esse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repertório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que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usaremos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hoje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—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sem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pré-requisito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escondido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.</a:t>
            </a:r>
          </a:p>
          <a:p>
            <a:pPr>
              <a:spcAft>
                <a:spcPts val="200"/>
              </a:spcAft>
            </a:pPr>
            <a:r>
              <a:rPr sz="2000" b="1" i="0" dirty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Um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projeto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contínuo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,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etapa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 a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etapa</a:t>
            </a:r>
            <a:endParaRPr sz="2000" b="1" i="0" dirty="0">
              <a:solidFill>
                <a:srgbClr val="22303C"/>
              </a:solidFill>
              <a:latin typeface="Google Sans Text"/>
            </a:endParaRPr>
          </a:p>
          <a:p>
            <a:pPr lvl="1">
              <a:spcAft>
                <a:spcPts val="100"/>
              </a:spcAft>
            </a:pPr>
            <a:r>
              <a:rPr sz="1450" b="0" i="0" dirty="0">
                <a:solidFill>
                  <a:srgbClr val="5B6B7B"/>
                </a:solidFill>
                <a:latin typeface="Google Sans Text"/>
              </a:rPr>
              <a:t>Cada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encontro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acrescenta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uma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peça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ao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MESMO app (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não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são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aulas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soltas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).</a:t>
            </a:r>
          </a:p>
          <a:p>
            <a:pPr lvl="1">
              <a:spcAft>
                <a:spcPts val="900"/>
              </a:spcAft>
            </a:pP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Hoje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: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planejamento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.</a:t>
            </a:r>
          </a:p>
          <a:p>
            <a:pPr>
              <a:spcAft>
                <a:spcPts val="200"/>
              </a:spcAft>
            </a:pPr>
            <a:r>
              <a:rPr sz="2000" b="1" i="0" dirty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Para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onde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vamos</a:t>
            </a:r>
            <a:endParaRPr sz="2000" b="1" i="0" dirty="0">
              <a:solidFill>
                <a:srgbClr val="22303C"/>
              </a:solidFill>
              <a:latin typeface="Google Sans Text"/>
            </a:endParaRPr>
          </a:p>
          <a:p>
            <a:pPr lvl="1">
              <a:spcAft>
                <a:spcPts val="100"/>
              </a:spcAft>
            </a:pPr>
            <a:r>
              <a:rPr sz="1450" b="0" i="0" dirty="0">
                <a:solidFill>
                  <a:srgbClr val="5B6B7B"/>
                </a:solidFill>
                <a:latin typeface="Google Sans Text"/>
              </a:rPr>
              <a:t>Ao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fim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: um dashboard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que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coleta dados da web,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consome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APIs e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usa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LLMs.</a:t>
            </a:r>
          </a:p>
          <a:p>
            <a:pPr lvl="1">
              <a:spcAft>
                <a:spcPts val="900"/>
              </a:spcAft>
            </a:pP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Construído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por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você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,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incrementalmente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Você não começa do zero — começa do Python que já sabe e sobe um degrau por aula.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Onde estamos no Projeto de Bloco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10 etapas até um dashboard com WebScraping, APIs e LLMs. Hoje: Etapa 1.</a:t>
            </a:r>
          </a:p>
        </p:txBody>
      </p:sp>
      <p:pic>
        <p:nvPicPr>
          <p:cNvPr id="8" name="Picture 7" descr="trilha_10_etap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934206"/>
            <a:ext cx="10241280" cy="23154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Como vamos aprender neste bloco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Três princípios que valem o bloco inteiro.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Ferramenta nova só quando resolve um problema real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pandas só quando o volume de dados justificar.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Introduzimos com propósito e explicando o porquê — nunca 'porque sim'.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Dados em Python puro primeiro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Listas e dicionários, que você já domina.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Transparência: você enxerga cada passo, sem 'sensação de lacuna'.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IA como copiloto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Use ChatGPT/Copilot para gerar e explicar código.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Regra: entender e saber explicar — a IA acelera, não pensa por você.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Menos decoreba de biblioteca, mais compreensão do que o código faz.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que faz um projeto de dados dar errado?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Objetivos da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Cinco capacidades — todas são a Competência 1 do PB e alimentam o TP1.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Formular o problema de negócio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Pergunta afiada, KPIs, público e ODS — o que decide todo o resto.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Explicar CRISP-DM e TDSP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As duas metodologias que organizam um projeto de dados.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Organizar diretórios e artefatos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Estrutura de pastas + Project Charter + Data Summary Report.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Representar dados em Python puro e ler um CSV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Lista de dicionários + módulo csv (sem pandas).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Construir e rodar uma app Streamlit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Do script à interface web, sem saber HTML.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entregável: TP1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trabalho prático que fecha a Competência 1 — construído ao longo das Etapas 1–2.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Tema: ESG e a Agenda 2030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Todo TP do bloco parte de um problema real de sustentabilidade (ODS).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Partes 1–4: proposta + planejamento + app demo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Exatamente o que praticamos hoje e na Aula 2.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Avalia a Competência 1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Identificar o problema, as metas e as fontes de dados de um app data-driven.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Ao fim da Aula 2, ~90% do TP1 já estará pronto.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1 · O problema vem primeiro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caso que vamos seguir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Um fio condutor real: acompanharemos a construção do Painel ODS — tropeços incluídos.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pedido (vago) de uma ONG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'Queríamos um painel de sustentabilidade do Brasil.'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 programássemos agora, cada um faria uma coisa diferente.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pergunta que destrava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'Que DECISÃO vocês precisam tomar?' → priorizar recursos entre UFs.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Isso muda tudo — e é a Fase 1 do método.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Onde isto vai dar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Hoje: o painel no ar. Ao fim do bloco: com saneamento real e IA.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Vamos ver o processo ACONTECER, fase a fase.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Guarde este caso: cada conceito da aula reaparece nele, com decisões e becos reais.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Os 4 elementos do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Um problema de negócio diz: que decisão apoiar, para quem, e como saber se deu certo.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1) Pergunta afiada — específica, relevante, não ambígua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'quais UFs priorizar em saneamento?' — boa o bastante para dizer QUAL dado buscar.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2) Meta / KPI — número + prazo (SMART)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cobrir as 27 UFs em 4 semanas. Distingue output (o painel) de outcome (a decisão).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3) Público-alvo — quem USA vs. quem DECIDE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o analista usa; o gestor decide o investimento. 'A sociedade' não é público-alvo.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4) ODS atendido — e por quê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ODS 6 (saneamento), porque o painel expõe desigualdades e orienta prioridades.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Sem estes 4, não há como decidir qual dado coletar — definir o problema é trabalho técnico.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Pergunta afiada + output vs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pergunta afiada é o leme: ela decide o dado e a visualização.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Afiada = pronta para apontar o dado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Vaga: 'melhorar o meio ambiente'.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Afiada: 'quais UFs estão atrás em saneamento?' — já diz o dado (IBGE).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Output ≠ Outcome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Output = entregar o painel.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Outcome = o gestor priorizar 3 UFs com base nele. Persiga o outcome.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É a primeira tarefa do projeto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Abre a fase Business Understanding (TDSP).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Cinco minutos aqui poupam horas de retrabalho depois.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Se a pergunta não diz qual dado buscar, ela ainda não está afiada.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Afiando a pergunta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Compare a versão vaga com a afiada — repare como a segunda já aponta o dado.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"Ajudar o meio ambiente"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→ 'Quais UFs estão atrás em saneamento e devem ser priorizadas?'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Aponta o dado (saneamento por UF) e a comparação.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"Mostrar dados de educação"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→ 'Onde a evasão no ensino médio mais cresceu em 3 anos?'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Aponta a variável (evasão), o recorte (região) e o período.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Teste rápido: sua pergunta permite dizer QUAL arquivo/endpoint buscar? Se não, afie mais.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Que TIPO de pergunta você faz?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Toda pergunta de dados cai em um de quatro níveis — e o nível define o que o projeto entrega.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Descritiva — o que aconteceu?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'cobertura de saneamento por UF hoje?' Exige coletar + agregar + visualizar.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Diagnóstica — por que aconteceu?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'por que o Norte está atrás?' Exige cruzar e comparar variáveis.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Preditiva — o que vai acontecer?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'como estará em 2030 no ritmo atual?' Exige modelo/estatística.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Prescritiva — o que fazer?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'onde investir para maior impacto?' Exige otimização/recomendação.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Nosso painel começa DESCRITIVO — e descritivo bem feito já apoia decisão. Com LLMs, subimos de nível.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Exemplo: nosso painel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problema do Painel ODS, nos 4 elementos.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Pergunta (descritiva): quais UFs priorizar em saneamento?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Aponta o dado (indicadores por UF)...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...e a visualização (comparar UFs lado a lado).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KPI: 27 UFs, comparar em ≤ 3 cliques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Cobertura + usabilidade, ambas mensuráveis.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Dá para dizer objetivamente se deu certo.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Público: gestores e ONGs · ODS 6 e 11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Quem decide investimento em saneamento/infraestrutura.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ODS 6 (água) e 11 (cidades) — conectados ao problema.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Repare: a pergunta afiada já 'entrega' o dado e a tela — é isso que buscamos no seu rascunho (A1).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Sua vez — rascunhe o problema (A1)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4 elementos + classifique o TIPO da pergunta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Sozinho 2'  →  em par 4'  →  plenário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12 min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2 · Organizar com método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Por que seguir um método?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Método é o mapa que mantém uma equipe alinhada num projeto de dados.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time enxerga etapas e artefatos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Todos sabem em que fase o projeto está...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...e onde ficam o Charter, os dados e o código.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Menos retrabalho e menos 'achismo'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Decisões seguem um fluxo conhecido em vez de improviso.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Evita becos sem saída e economiza tempo.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Enxuto ≠ burocracia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Usamos só os artefatos que agregam (Charter, Data Summary).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George: 'ver o processo geral ajuda a pensar os passos.'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As respostas do início ('por que projetos falham?') são exatamente o que o método previne.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CRISP-DM — 6 fases (cíclico)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Cross-Industry Standard Process for Data Mining (1996) — ainda a metodologia de projeto de dados mais usada da indústria.</a:t>
            </a:r>
          </a:p>
        </p:txBody>
      </p:sp>
      <p:pic>
        <p:nvPicPr>
          <p:cNvPr id="8" name="Picture 7" descr="diagrama_crispd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211" y="2057400"/>
            <a:ext cx="40690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CRISP-DM · 1) Entendimento do Negócio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Pergunta-chave: que decisão de negócio vamos apoiar — e como saber se deu certo?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que se faz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Traduzir a 'dor' do cliente em objetivos e uma pergunta afiada.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Definir critérios de sucesso (KPIs) mensuráveis.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Entregável → Project Charter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Escopo, objetivos, KPIs, ODS, público e riscos.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o contrato do projeto (documento vivo).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No Painel ODS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'Quais UFs priorizar em saneamento?' (descritiva).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KPI: 27 UFs, comparar em ≤ 3 cliques; ODS 6 e 11.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Armadilha: pular ao dado sem saber a decisão. É aqui que o projeto se ganha ou se perde.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CRISP-DM · 2) Entendimento dos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Pergunta-chave: os dados existem, têm qualidade e respondem à pergunta?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que se faz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Coleta inicial + exploração (EDA): formato, volume, cobertura, faltantes.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Avaliar se os dados permitem responder à pergunta afiada.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Entregável → Data Summary / dicionário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Fontes, tipo de dado e objetivo de uso.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Primeiras estatísticas e problemas encontrados.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No Painel ODS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As 27 UFs estão na API do IBGE? O ano é recente?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dado vem em JSON (semi-estruturado).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Armadilha: confiar na fonte sem inspecionar — dado ruim contamina todo o resto.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CRISP-DM · 3) Preparação dos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Pergunta-chave: como transformar o dado bruto no dataset pronto para análise?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que se faz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Limpar (faltantes, erros), converter tipos, integrar fontes, derivar variáveis.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Costuma ser a MAIOR parte do tempo do projeto.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Entregável → dataset de análise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Tabela limpa e consistente, pronta para uso.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Reprodutível: um script, não cliques manuais.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No Painel ODS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JSON da API → lista de dicionários; converter população para inteiro.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Padronizar nomes de UF/região.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Armadilha: subestimar esse esforço no cronograma — 'garbage in, garbage out'.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CRISP-DM · 4) Modelagem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Pergunta-chave: qual técnica responde à pergunta — da mais simples à mais sofisticada?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que se faz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Escolher e aplicar a técnica: de uma agregação/ranking simples a ML.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Testar alternativas e ajustar parâmetros.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Entregável → modelo/análise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resultado que responde à pergunta (ex.: ranking de UFs).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Com as premissas documentadas.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No Painel ODS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Nesta etapa, uma agregação simples (comparar/ordenar UFs) já basta.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Modelos preditivos e LLMs vêm mais adiante no bloco.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Armadilha: modelo sofisticado sobre pergunta mal posta — comece simples.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CRISP-DM · 5) Avaliação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Pergunta-chave: o resultado responde ao NEGÓCIO — não só à métrica técnica?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que se faz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Confrontar o resultado com os KPIs e o objetivo de negócio.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Decidir: seguir para produção (go) ou iterar (no-go).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Entregável → decisão go/no-go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Relatório de avaliação + próximos passos.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 'no-go', volta ao Negócio ou aos Dados.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No Painel ODS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gestor consegue priorizar 3 UFs em ≤ 3 cliques?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 não, refinamos a pergunta ou a visualização.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Armadilha: comemorar acurácia técnica enquanto o KPI de negócio não é atingido.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CRISP-DM · 6) Implantação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Pergunta-chave: como entregar o resultado a quem vai decidir com ele?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que se faz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Publicar/operacionalizar (app, relatório, pipeline).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Documentar o uso e monitorar.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Entregável → produto em produção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No nosso caso: o Streamlit acessível.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Com plano de manutenção.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No Painel ODS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Publicar o painel (etapa futura do bloco).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 acompanhar se gestores/ONGs realmente usam.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Cíclico: da Avaliação volta-se ao Negócio. Armadilha: entregar e sumir (sem outcome).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Por que planejar primeiro?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Um erro na PERGUNTA custa minutos se pego na Fase 1 — e o projeto inteiro se pego só em produção.</a:t>
            </a:r>
          </a:p>
        </p:txBody>
      </p:sp>
      <p:pic>
        <p:nvPicPr>
          <p:cNvPr id="8" name="Picture 7" descr="curva_custo_mudan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421" y="2057400"/>
            <a:ext cx="8696661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CRISP-DM: forças e limitações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Por que ainda domina — e o que deixa de fora.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Forças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Universal, simples e independente de ferramenta; a linguagem comum da área desde 1996.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Ótimo para pensar o problema e os dados.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Limite 1 — sem papéis nem visão de equipe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Não diz quem faz o quê; vira problema em times.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(é o primeiro ponto que o TDSP resolve)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Limite 2 — vira cascata e para no deploy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iteração é 'opcional'; muitos rodam em linha reta.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Não cobre monitorar/operar em produção (MLOps).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CRISP-DM é um ótimo mapa conceitual, mas incompleto para equipes e produção — daí TDSP e MLOps.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Anti-padrões clássicos (e a fase que os previne)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Quase todo fracasso em dados é uma fase pulada.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'Solução à procura de problema'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Começar pelo modelo/ferramenta legal, não pela decisão a apoiar.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Previne: Fase 1 (Entendimento do Negócio).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'Boiling the ocean'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Querer resolver tudo de uma vez; nunca entrega.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Previne: escopo enxuto + iteração.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'O modelo que ninguém usou'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Tecnicamente ótimo, sem deploy nem adoção.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Previne: Fases 5–6 (foco no outcome, não só na métrica).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'Lixo entra, lixo sai'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Ignorar a qualidade do dado.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Previne: Fases 2–3 (Entendimento/Preparação).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O método existe para não pular fases — cada anti-padrão é uma fase negligenciada.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TDSP — 5 estágios (iterativo)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Team Data Science Process (Microsoft, 2016) — evolução moderna do CRISP-DM, pensada para equipes.</a:t>
            </a:r>
          </a:p>
        </p:txBody>
      </p:sp>
      <p:pic>
        <p:nvPicPr>
          <p:cNvPr id="8" name="Picture 7" descr="diagrama_td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308316"/>
            <a:ext cx="10241280" cy="356724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TDSP — estágio a estágio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ciclo de vida do TDSP, com o que acontece em cada estágio.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1) Business Understanding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Define objetivos + perguntas afiadas e JÁ identifica as fontes de dados.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2) Data Acquisition &amp; Understanding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Obtém e explora os dados; monta o pipeline inicial e o dicionário de dados.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3) Modeling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Feature engineering + treino/seleção de modelos que respondem à pergunta.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4) Deployment  ·  5) Customer Acceptance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Operacionaliza em produção e valida com quem vai usar.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Iterativo: cada volta entrega algo utilizável — não se espera o 'fim' para mostrar valor.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CRISP-DM ↔ TDSP: o mesmo esqueleto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TDSP e CRISP-DM não competem: o TDSP reorganiza o mesmo esqueleto.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Entendimento do Negócio  =  Business Understanding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Mesma ideia: definir o problema e o sucesso antes de tudo.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Entend. + Prep. dos Dados  =  Data Acquisition &amp; Understanding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TDSP funde 'entender' e 'preparar' os dados num estágio só.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Modelagem  =  Modeling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Correspondência direta entre os dois.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Avaliação + Implantação  =  Deployment + Customer Acceptance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TDSP separa 'entregar em produção' de 'ser aceito pelo cliente'.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Conhecer os dois é o esperado — e o TDSP é a escolha moderna para equipes.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que o TDSP acrescenta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Por que preferimos o TDSP no Projeto de Bloco.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Papéis de equipe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Líder de projeto, cientista(s) e engenheiro(s) de dados.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Responsabilidades explícitas, sem ambiguidade.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Template de repositório (GitHub)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Estrutura e documentação padronizadas.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time todo encontra as coisas no mesmo lugar.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Iteração com entregas incrementais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Cada ciclo entrega algo utilizável.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assim que o painel evolui etapa a etapa neste curso.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TDSP = CRISP-DM + papéis + ferramentas + iteração. Por isso é o nosso guia.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TDSP, Agile e MLOps: como se encaixam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Não são rivais — cada um cobre uma camada diferente.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CRISP-DM / TDSP — O QUE fazer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As fases de um projeto de dados (TDSP = CRISP + papéis + repositório + iteração).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Agile / Scrum / Kanban — COMO organizar o trabalho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Sprints, quadros, entregas curtas. Cientistas de dados adotaram da eng. de software [George, p48].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MLOps — OPERAR em produção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Deploy contínuo, monitoramento, retreino. É a 'Fase 6+' que o CRISP-DM não cobria.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Combine: TDSP dá as fases, Agile organiza o trabalho, MLOps mantém em produção.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Por que 'iterativo' importa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Um exemplo concreto de por que voltar atrás é parte do processo.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Modelagem pronta → Avaliação: o KPI NÃO bate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o painel compara UFs, mas o gestor ainda não decide com ele.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projeto não 'falhou' — aprendeu algo.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Não jogamos fora — voltamos atrás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Ao Negócio (refinar a pergunta) ou aos Dados (nova fonte/indicador).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Cada volta corrige o rumo.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Cada volta é uma entrega incremental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Aula 1 (amostra) → Aula 2 (API) → final (com IA).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Sempre há algo funcionando para mostrar.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Iterar é o oposto de 'tudo ou nada': entrega-se valor cedo e melhora-se a cada ciclo.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Nosso projeto no TDSP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Onde estamos, na prática, no ciclo do TDSP.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Business Understanding = problema + Project Charter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Pergunta afiada (saneamento por UF), KPIs, ODS 6/11 e público-alvo.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Data Acquisition = IBGE + Data Summary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Fonte: API do IBGE (JSON); registramos tipo e objetivo de uso de cada uma.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Modeling / Deployment / Acceptance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Indicadores derivados e LLMs; publicar o app; validar — etapas futuras.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Hoje cobrimos o 1º estágio inteiro e começamos o 2º — exatamente as Partes 1–4 do TP1.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Voto — CRISP-DM × TDSP (A2)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Qual afirmação é a correta?  A / B / C / D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Vote  →  convença o par  →  revote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8 min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3 · Estrutura, tipos de dados e Python puro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Diretórios que espelham o TDSP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painel_ods_brasil/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painel_ods_brasil/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├── app.py                # aplicação Streamlit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├── requirements.txt      # dependências (na RAIZ) — só streamlit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├── data/  (raw / processed / sample)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├── docs/  (project_charter.md, data_summary_report.md)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└── src/   (data_access.py — coleta via API, na Aula 2)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Artefato 1 — Project Charter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Project Charter responde: o que faremos, para quem e como medir sucesso.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Escopo, objetivos e KPIs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que está dentro/fora; o que buscamos.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Sucesso com número e prazo (SMART).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ODS e público-alvo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qual objetivo da Agenda 2030 contribui e para quem.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Ancora todas as decisões do projeto.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Riscos — e é documento vivo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'API fora do ar' → mitigação com cache de amostra.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Revisado ao fim de cada etapa.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É o artefato da fase Business Understanding — o primeiro que você entrega no TP1.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Artefato 2 — Data Summary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Data Summary Report cataloga de onde virão os dados — antes de coletar.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Fontes de dados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API do IBGE (população; depois saneamento).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Cada fonte listada explicitamente.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Tipo de dado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Estruturado / semi / não-estruturado.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Define como trataremos cada fonte.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Objetivo de uso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Para que cada fonte serve no painel.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Evita coletar dado que ninguém vai usar.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Primeiro esboço da fase de Aquisição — a ponte para a coleta real da Aula 2.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Que TIPO de dado é cada fonte?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Antes de coletar, classificamos o dado — porque o tipo muda como o tratamos.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Estruturado — tabelas / CSV / SQL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Linhas e colunas; ótimo para análise quantitativa. Ex.: nosso CSV de população.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Semi-estruturado — JSON, XML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Tem estrutura, mas não tabular; típico de APIs. 'JSON is a semi-structured format' (Esppenchutz).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Não-estruturado — texto, áudio, vídeo, imagem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Sem esquema fixo; guardado em bancos NoSQL (ex.: MongoDB) e data lakes.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Fio do projeto: JSON (semi) → tabela (estruturado)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API do IBGE devolve JSON; nós o convertemos numa tabela para comparar UFs.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Registramos o tipo de cada fonte no Data Summary Report — decide o tratamento na Aula 2.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Bastidores: 3 tropeços reais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Este painel foi construído de verdade — e o dado real derrubou as primeiras tentativas.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Saneamento era complexo demais (por ora)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As tabelas do Censo têm múltiplas classificações — difíceis de extrair limpo na v1.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Decisão: começar por POPULAÇÃO (dado limpo) e adicionar saneamento na iteração.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API respondeu comprimida (gzip)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1ª tentativa com urllib quebrou ao decodificar.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Solução: usar requests, que descomprime sozinho. Sempre inspecione a resposta!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KeyError: os ids vinham como texto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Buscar a UF por número (13) falhou — o id era a string '13'.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Solução: normalizar os tipos (int). O dado real raramente vem no tipo esperado.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É por isso que Entendimento e Preparação dos Dados existem — o dado real surpreende.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 dirty="0">
                <a:solidFill>
                  <a:srgbClr val="17375E"/>
                </a:solidFill>
                <a:latin typeface="Google Sans Text"/>
              </a:rPr>
              <a:t>Como </a:t>
            </a:r>
            <a:r>
              <a:rPr sz="3200" b="1" i="0" dirty="0" err="1">
                <a:solidFill>
                  <a:srgbClr val="17375E"/>
                </a:solidFill>
                <a:latin typeface="Google Sans Text"/>
              </a:rPr>
              <a:t>guardamos</a:t>
            </a:r>
            <a:r>
              <a:rPr sz="3200" b="1" i="0" dirty="0">
                <a:solidFill>
                  <a:srgbClr val="17375E"/>
                </a:solidFill>
                <a:latin typeface="Google Sans Text"/>
              </a:rPr>
              <a:t> </a:t>
            </a:r>
            <a:r>
              <a:rPr sz="3200" b="1" i="0" dirty="0" err="1">
                <a:solidFill>
                  <a:srgbClr val="17375E"/>
                </a:solidFill>
                <a:latin typeface="Google Sans Text"/>
              </a:rPr>
              <a:t>os</a:t>
            </a:r>
            <a:r>
              <a:rPr sz="3200" b="1" i="0" dirty="0">
                <a:solidFill>
                  <a:srgbClr val="17375E"/>
                </a:solidFill>
                <a:latin typeface="Google Sans Text"/>
              </a:rPr>
              <a:t> dados? (Python puro)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No código, uma tabela é só uma lista de dicionários — Python que você já conhece.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 dirty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Começamos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 com o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que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você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domina</a:t>
            </a:r>
            <a:endParaRPr sz="2000" b="1" i="0" dirty="0">
              <a:solidFill>
                <a:srgbClr val="22303C"/>
              </a:solidFill>
              <a:latin typeface="Google Sans Text"/>
            </a:endParaRPr>
          </a:p>
          <a:p>
            <a:pPr lvl="1">
              <a:spcAft>
                <a:spcPts val="100"/>
              </a:spcAft>
            </a:pP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Listas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e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dicionários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.</a:t>
            </a:r>
          </a:p>
          <a:p>
            <a:pPr lvl="1">
              <a:spcAft>
                <a:spcPts val="900"/>
              </a:spcAft>
            </a:pPr>
            <a:r>
              <a:rPr sz="1450" b="0" i="0" dirty="0">
                <a:solidFill>
                  <a:srgbClr val="5B6B7B"/>
                </a:solidFill>
                <a:latin typeface="Google Sans Text"/>
              </a:rPr>
              <a:t>Nada de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instalar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biblioteca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nova agora.</a:t>
            </a:r>
          </a:p>
          <a:p>
            <a:pPr>
              <a:spcAft>
                <a:spcPts val="200"/>
              </a:spcAft>
            </a:pPr>
            <a:r>
              <a:rPr sz="2000" b="1" i="0" dirty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Cada LINHA = um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dicionário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  {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coluna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: valor}</a:t>
            </a:r>
          </a:p>
          <a:p>
            <a:pPr lvl="1">
              <a:spcAft>
                <a:spcPts val="100"/>
              </a:spcAft>
            </a:pPr>
            <a:r>
              <a:rPr sz="1450" b="0" i="0" dirty="0">
                <a:solidFill>
                  <a:srgbClr val="5B6B7B"/>
                </a:solidFill>
                <a:latin typeface="Google Sans Text"/>
              </a:rPr>
              <a:t>Ex.: {'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uf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': 'SP', '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estado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': 'São Paulo', 'populacao_2025': 46081801}.</a:t>
            </a:r>
          </a:p>
          <a:p>
            <a:pPr lvl="1">
              <a:spcAft>
                <a:spcPts val="900"/>
              </a:spcAft>
            </a:pPr>
            <a:r>
              <a:rPr sz="1450" b="0" i="0" dirty="0">
                <a:solidFill>
                  <a:srgbClr val="5B6B7B"/>
                </a:solidFill>
                <a:latin typeface="Google Sans Text"/>
              </a:rPr>
              <a:t>As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chaves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são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as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colunas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.</a:t>
            </a:r>
          </a:p>
          <a:p>
            <a:pPr>
              <a:spcAft>
                <a:spcPts val="200"/>
              </a:spcAft>
            </a:pPr>
            <a:r>
              <a:rPr sz="2000" b="1" i="0" dirty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A TABELA =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uma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lista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 de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dicionários</a:t>
            </a:r>
            <a:endParaRPr sz="2000" b="1" i="0" dirty="0">
              <a:solidFill>
                <a:srgbClr val="22303C"/>
              </a:solidFill>
              <a:latin typeface="Google Sans Text"/>
            </a:endParaRPr>
          </a:p>
          <a:p>
            <a:pPr lvl="1">
              <a:spcAft>
                <a:spcPts val="100"/>
              </a:spcAft>
            </a:pP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Você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percorre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e filtra com for/list comprehension.</a:t>
            </a:r>
          </a:p>
          <a:p>
            <a:pPr lvl="1">
              <a:spcAft>
                <a:spcPts val="900"/>
              </a:spcAft>
            </a:pP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Transparente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: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cada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registro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é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visível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É a representação que o Streamlit aceita direto — por isso não precisamos de pandas hoje.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Ler um CSV com o módulo 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trecho de 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import csv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def carregar_amostra(caminho):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linhas = []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with open(caminho, encoding='utf-8') as arquivo: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    for linha in csv.DictReader(arquivo):   # cada linha vira um dict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        linha['populacao_2025'] = int(linha['populacao_2025'])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        linhas.append(linha)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return linhas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4 · Mãos à obra: primeira app Streamlit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que é 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Streamlit transforma um script Python em app web — sem front-end.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Script Python → app web interativa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Você escreve Python; o Streamlit gera a página.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st.title(...) vira um cabeçalho na tela.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Sem HTML / CSS / JS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Derruba a barreira do front-end para cientistas de dados.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Framework open-source de 2019.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Feito para dados e ML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Integra gráficos, tabelas e modelos.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Hoje usamos só Python puro.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Misconcepção comum: 'preciso saber web'. Não — só Python + a sintaxe do Streamlit.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Passo 0 — ambiente (só streamlit)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python -m venv .venv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.venv\Scripts\activate       # Windows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source .venv/bin/activate    # Linux/Mac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pip install streamlit    # só isto — sem pandas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app.py — configuração e cabeçalho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import streamlit as st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st.set_page_config(page_title="Painel ODS Brasil", layout="wide")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st.title("Painel de Indicadores Sustentáveis do Brasil")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st.subheader("Dados abertos a serviço da Agenda 2030")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st.markdown("[API do IBGE](https://servicodados.ibge.gov.br/api/docs)")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app.py — carregar dados (Python puro)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import csv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from pathlib import Path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CSV = Path(__file__).parent / "data" / "sample" / "populacao_amostra.csv"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dados = carregar_amostra(CSV)   # lista de dicionários (slide anterior)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app.py — métricas (len/set/sum)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c1, c2, c3 = st.columns(3)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c1.metric("UFs", len({l["uf"] for l in dados}))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c2.metric("Regiões", len({l["regiao"] for l in dados}))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c3.metric("População", sum(l["populacao_2025"] for l in dados))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app.py — a tabela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st.dataframe(dados, use_container_width=True, hide_index=True)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st.dataframe/st.table aceitam a LISTA DE DICIONÁRIOS direto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-&gt; por isso NÃO precisamos de pandas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Temos um app!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streamlit run app.py → localhost:8501. Título, links, tabela e métricas — em Python puro.</a:t>
            </a:r>
          </a:p>
        </p:txBody>
      </p:sp>
      <p:pic>
        <p:nvPicPr>
          <p:cNvPr id="8" name="Picture 7" descr="preview_painel_o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085" y="2057400"/>
            <a:ext cx="5565333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IA como copiloto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coordenação encoraja usar IA para programar — com uma regra clara.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Peça à IA para gerar e explicar trechos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'como somar uma coluna de uma lista de dicionários?'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Ótimo para destravar rápido.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Para aprender — não para terceirizar o pensar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IA acelera.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compreensão continua sendo sua responsabilidade.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Regra de ouro: entender e saber explicar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 não sabe explicar uma linha, pergunte 'por quê?' à IA.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Só entregue quando entender.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Quem entende o que a IA gerou usa a ferramenta; quem não entende é usado por ela.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caso, em 4 lições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que o Painel ODS nos ensinou — e que vale para o seu TP1.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Afiar a pergunta (e o tipo) evita construir a coisa errada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Descritiva, não preditiva — a ONG precisava decidir agora.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Começar simples e descritivo entrega valor cedo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População + amostra, em vez de travar no dado difícil.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Sempre inspecionar a fonte real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gzip e tipos derrubaram as 1ªs tentativas — por isso Entendimento/Preparação existem.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Iterar: a v1 é degrau para a v2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População/8 UFs/local → saneamento/27 UFs/API (a Aula 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Método não é burocracia: foi ele que nos fez começar certo e não desperdiçar tempo.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Em 3 frases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mapa mental da Etapa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Problema primeiro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Pergunta afiada + tipo, KPI, público, ODS — antes do código.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Método + dados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CRISP-DM ↔ TDSP (iterativo) + artefatos; tipos de dados; Python puro.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App + IA copiloto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Streamlit põe o app no ar; a IA acelera (entender e explicar).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Planejar antes de programar não atrasa — é o que faz o projeto chegar ao fim.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Para a Aula 2, traga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Problema nos 4 elementos + tipo da pergunta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Repositório com a estrutura de pastas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Rascunho do Project Charter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Bilhete de saída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Em 2 linhas: qual ODS seu projeto atende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e qual a sua pergunta afiada (e de que tipo)?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3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6310</Words>
  <Application>Microsoft Office PowerPoint</Application>
  <PresentationFormat>Widescreen</PresentationFormat>
  <Paragraphs>652</Paragraphs>
  <Slides>57</Slides>
  <Notes>57</Notes>
  <HiddenSlides>12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57</vt:i4>
      </vt:variant>
    </vt:vector>
  </HeadingPairs>
  <TitlesOfParts>
    <vt:vector size="62" baseType="lpstr">
      <vt:lpstr>Arial</vt:lpstr>
      <vt:lpstr>Calibri</vt:lpstr>
      <vt:lpstr>Consolas</vt:lpstr>
      <vt:lpstr>Google Sans Text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Renan Silva Santos</cp:lastModifiedBy>
  <cp:revision>4</cp:revision>
  <dcterms:created xsi:type="dcterms:W3CDTF">2013-01-27T09:14:16Z</dcterms:created>
  <dcterms:modified xsi:type="dcterms:W3CDTF">2026-07-24T01:03:04Z</dcterms:modified>
  <cp:category/>
</cp:coreProperties>
</file>