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24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452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Boas-</a:t>
            </a:r>
            <a:r>
              <a:rPr dirty="0" err="1"/>
              <a:t>vindas</a:t>
            </a:r>
            <a:r>
              <a:rPr dirty="0"/>
              <a:t> de volta. </a:t>
            </a:r>
            <a:r>
              <a:rPr dirty="0" err="1"/>
              <a:t>Hoje</a:t>
            </a:r>
            <a:r>
              <a:rPr dirty="0"/>
              <a:t> o </a:t>
            </a:r>
            <a:r>
              <a:rPr dirty="0" err="1"/>
              <a:t>painel</a:t>
            </a:r>
            <a:r>
              <a:rPr dirty="0"/>
              <a:t> </a:t>
            </a:r>
            <a:r>
              <a:rPr dirty="0" err="1"/>
              <a:t>deixa</a:t>
            </a:r>
            <a:r>
              <a:rPr dirty="0"/>
              <a:t> de usar </a:t>
            </a:r>
            <a:r>
              <a:rPr dirty="0" err="1"/>
              <a:t>amostra</a:t>
            </a:r>
            <a:r>
              <a:rPr dirty="0"/>
              <a:t> e </a:t>
            </a:r>
            <a:r>
              <a:rPr dirty="0" err="1"/>
              <a:t>passa</a:t>
            </a:r>
            <a:r>
              <a:rPr dirty="0"/>
              <a:t> a </a:t>
            </a:r>
            <a:r>
              <a:rPr dirty="0" err="1"/>
              <a:t>coletar</a:t>
            </a:r>
            <a:r>
              <a:rPr dirty="0"/>
              <a:t> de </a:t>
            </a:r>
            <a:r>
              <a:rPr dirty="0" err="1"/>
              <a:t>verdade</a:t>
            </a:r>
            <a:r>
              <a:rPr dirty="0"/>
              <a:t>. [0–1]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Recap. [ASK: qual foi seu bilhete de saída — pergunta afiada + ODS?] [1–4]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Trilha com a Etapa 2 destacada. [4–6]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Case v2 (case-study.md). [BOARD: v1 amostra → v2 API+gráfico] [4–6]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[ASK] Colher: não escala (27, 5.570 municípios), erra digitação, desatualiza. Motiva a API. [6–9]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Transversal: IA copiloto. [9–11]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[11–12]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Antes de coletar: que fonte e que tipo de dado? [12]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[Esppenchutz, p118,122]. [12–15]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CAMADA COMPARATIVA. [ASK: 'saneamento por UF atualizado' → qual forma?] [15–18]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[Esppenchutz, p67,71]. [18–21]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Diagrama cliente-servidor. [21–23]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APROFUNDAMENTO (autenticação). [23–25]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A3 (activities.md). Debrief: por que essa fonte? [25–33]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GUIADO: o src/data_access.py já existe e foi testado. [33]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requests.get + .json(). [ASK: o que raise_for_status evita?] [Esppenchutz, p68-70]. [33–35]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Espelha passo02_lista_para_dicionario.py. [ASK: por que não ficar na lista? → teria de percorrer os 27 itens a cada busca]. Marque o int(...): o id vem número em /localidades e TEXTO em /agregados. [35–38]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Espelha passo03_json_aninhado.py. Percorra a cascata com a turma ANTES de mostrar a linha pronta do próximo slide. Os dois selos TEXTO! preparam o int(...). [38–41]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JSON profundo: navegar até series; montar 1 dict por UF. Tratar tipos. [41–44]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Espelha passo04_montar_tabela.py. Ponto-chave: as CHAVES do dicionário viram as COLUNAS e cada dict é uma LINHA — por isso st.dataframe/st.bar_chart aceitam a lista direto, sem pandas. [44–47]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PRINCÍPIO (separação de camadas). [47–49]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ANTI-PADRÕES. [49–51]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CASO (case-study.md). [51–52... segue no B5]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Agora a interface: mostrar os dados coletados, com robustez. [52]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Sem cache, mudar um filtro recoletaria tudo. Conceito adiado na Aula 1 — agora faz sentido. [52–55]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multiselect devolve a lista escolhida; filtramos com comprehension (Python puro). [Raghavendra, p121]. [55–58]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Ponto-chave: estruturas nativas bastam. [Raghavendra, p63-66]. [58–62]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PRINCÍPIO (fail gracefully). [62–65]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Rode streamlit run app.py. Amarre ao TP1. [65–67]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Peer instruction (activities.md + key). [67–72]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PRINCÍPIOS. [72–75]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Payoff do caso (case-study.md). [75–78]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APROFUNDAMENTO / ponte. [78–81]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Peça a um aluno para resumir. [81–84]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Recolha. Alimenta a próxima etapa. [84–90]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infnet_30an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9549"/>
            <a:ext cx="3108960" cy="803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10312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oogle Sans Text"/>
              </a:rPr>
              <a:t>Coleta e visualização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709160"/>
            <a:ext cx="10058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 dirty="0" err="1">
                <a:solidFill>
                  <a:srgbClr val="FFFFFF"/>
                </a:solidFill>
                <a:latin typeface="Google Sans Text"/>
              </a:rPr>
              <a:t>Projeto</a:t>
            </a:r>
            <a:r>
              <a:rPr sz="1800" b="1" i="0" dirty="0">
                <a:solidFill>
                  <a:srgbClr val="FFFFFF"/>
                </a:solidFill>
                <a:latin typeface="Google Sans Text"/>
              </a:rPr>
              <a:t> de Bloco: </a:t>
            </a:r>
            <a:r>
              <a:rPr sz="1800" b="1" i="0" dirty="0" err="1">
                <a:solidFill>
                  <a:srgbClr val="FFFFFF"/>
                </a:solidFill>
                <a:latin typeface="Google Sans Text"/>
              </a:rPr>
              <a:t>Inteligência</a:t>
            </a:r>
            <a:r>
              <a:rPr sz="1800" b="1" i="0" dirty="0">
                <a:solidFill>
                  <a:srgbClr val="FFFFFF"/>
                </a:solidFill>
                <a:latin typeface="Google Sans Text"/>
              </a:rPr>
              <a:t> Artificial </a:t>
            </a:r>
            <a:r>
              <a:rPr sz="1800" b="1" i="0" dirty="0" err="1">
                <a:solidFill>
                  <a:srgbClr val="FFFFFF"/>
                </a:solidFill>
                <a:latin typeface="Google Sans Text"/>
              </a:rPr>
              <a:t>Aplicada</a:t>
            </a:r>
            <a:endParaRPr sz="1800" b="1" i="0" dirty="0">
              <a:solidFill>
                <a:srgbClr val="FFFFFF"/>
              </a:solidFill>
              <a:latin typeface="Google Sans Text"/>
            </a:endParaRPr>
          </a:p>
          <a:p>
            <a:r>
              <a:rPr sz="1500" b="0" i="0" dirty="0">
                <a:solidFill>
                  <a:srgbClr val="FFFFFF"/>
                </a:solidFill>
                <a:latin typeface="Google Sans Text"/>
              </a:rPr>
              <a:t>Aula </a:t>
            </a:r>
            <a:r>
              <a:rPr lang="pt-BR" sz="1500" b="0" i="0" dirty="0">
                <a:solidFill>
                  <a:srgbClr val="FFFFFF"/>
                </a:solidFill>
                <a:latin typeface="Google Sans Text"/>
              </a:rPr>
              <a:t>3</a:t>
            </a:r>
            <a:r>
              <a:rPr sz="1500" b="0" i="0" dirty="0">
                <a:solidFill>
                  <a:srgbClr val="FFFFFF"/>
                </a:solidFill>
                <a:latin typeface="Google Sans Text"/>
              </a:rPr>
              <a:t> · Etapa 2</a:t>
            </a:r>
          </a:p>
          <a:p>
            <a:r>
              <a:rPr sz="1500" b="0" i="0" dirty="0">
                <a:solidFill>
                  <a:srgbClr val="FFFFFF"/>
                </a:solidFill>
                <a:latin typeface="Google Sans Text"/>
              </a:rPr>
              <a:t>Prof. Renan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Onde paramos (Aula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Planejamos o projeto e montamos um painel — mas com amostra manual.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Problema afiado + método (CRISP-DM/TDSP)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Charter, Data Summary, estrutura de pastas.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pergunta: quais UFs priorizar em saneamento?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App Streamlit com AMOSTRA de 8 UFs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Dados colados à mão num CSV.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Funcionava — mas não escala e desatualiza.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Decisão da Avaliação: iterar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Automatizar a coleta e cobrir as 27 UFs.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o que faremos hoje (a v2).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 v1 provou o conceito; a v2 o torna real. Isso é o TDSP iterando.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Onde estamos no Projeto de Bloco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Etapa 2: coleta e visualização. Cada etapa acrescenta uma peça ao MESMO projeto.</a:t>
            </a:r>
          </a:p>
        </p:txBody>
      </p:sp>
      <p:pic>
        <p:nvPicPr>
          <p:cNvPr id="8" name="Picture 7" descr="trilha_10_etapas_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933604"/>
            <a:ext cx="10241280" cy="23166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Da amostra à coleta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🎬 A iteração do nosso caso: o painel passa a se atualizar sozinho.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v1 (Aula 1): amostra manual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8 UFs digitadas num CSV.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Frágil: erra, desatualiza, não escala.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v2 (hoje): coleta via API + gráfico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27 UFs coletadas automaticamente do IBGE.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Com filtro, métricas e visualização.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O mesmo projeto, um degrau acima — sem recomeçar do zero.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Por que não copiar os números à mão?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Objetivos da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Cinco capacidades — coleta real + visualização (Competência 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Escolher fontes/tipos de dados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Arquivo × API × WebScraping — e quando usar cada.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Coletar via API REST em Python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requests + json, tratando status e erros.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Transformar JSON em tabela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JSON aninhado → lista de dicionários; tratar tipos.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Visualizar em Streamlit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Gráfico, filtro por região, métricas.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Robustez + separação de camadas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Cache/fallback; dados isolados da interface.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entregável: TP1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Aula 2 fecha a parte técnica do TP1.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Coleta via API + visualização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Exatamente o que construímos hoje.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Falta plugar o SEU indicador/ODS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Sobre a base de hoje, com o seu tema.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Ao fim de hoje: ~90% do TP1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Problema (Aula 1) + coleta + gráfico (Aula 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Depois de hoje, o TP1 é sobretudo adaptar ao seu problema.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1 · De onde vêm os dados?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Recap: tipos de dado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tipo decide como tratamos — e a API do IBGE devolve um deles.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Estruturado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Tabela/CSV/SQL — linhas e colunas. Ótimo para análise.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Semi-estruturado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JSON, XML — típico de APIs. É o que o IBGE devolve.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Não-estruturado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Texto, áudio, imagem — sem esquema fixo.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Hoje: JSON (semi) → tabela (lista de dicionários) para visualizar.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Três formas de obter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Arquivo, API ou WebScraping — cada um tem seu momento.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Arquivo (CSV/JSON)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Baixar um arquivo pronto. Bom para dado estático/bulk.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Mas: desatualiza; download manual.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API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Pedir dado a um sistema via HTTP. Atualizado e integrável.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Mas: às vezes paga/limitada [Esppenchutz, p75].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WebScraping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Extrair de páginas HTML — quando NÃO há API.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Frágil (o HTML muda); ver termos de uso.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No caso: o IBGE tem API pública e gratuita → é a melhor escolha.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é uma API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Um contrato para dois sistemas trocarem dados por HTTP.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 dirty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Endpoint (URL)</a:t>
            </a:r>
          </a:p>
          <a:p>
            <a:pPr lvl="1">
              <a:spcAft>
                <a:spcPts val="900"/>
              </a:spcAft>
            </a:pPr>
            <a:r>
              <a:rPr sz="1450" b="0" i="0" dirty="0">
                <a:solidFill>
                  <a:srgbClr val="5B6B7B"/>
                </a:solidFill>
                <a:latin typeface="Google Sans Text"/>
              </a:rPr>
              <a:t>ONDE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pedir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. Ex.: /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api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/v1/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localidades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/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estados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.</a:t>
            </a:r>
          </a:p>
          <a:p>
            <a:pPr>
              <a:spcAft>
                <a:spcPts val="200"/>
              </a:spcAft>
            </a:pPr>
            <a:r>
              <a:rPr sz="2000" b="1" i="0" dirty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Método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 GET</a:t>
            </a:r>
          </a:p>
          <a:p>
            <a:pPr lvl="1">
              <a:spcAft>
                <a:spcPts val="900"/>
              </a:spcAft>
            </a:pPr>
            <a:r>
              <a:rPr sz="1450" b="0" i="0" dirty="0">
                <a:solidFill>
                  <a:srgbClr val="5B6B7B"/>
                </a:solidFill>
                <a:latin typeface="Google Sans Text"/>
              </a:rPr>
              <a:t>LER dados (POST/PUT/DELETE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escrevem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—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hoje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só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lemos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).</a:t>
            </a:r>
          </a:p>
          <a:p>
            <a:pPr>
              <a:spcAft>
                <a:spcPts val="200"/>
              </a:spcAft>
            </a:pPr>
            <a:r>
              <a:rPr sz="2000" b="1" i="0" dirty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Parâmetros</a:t>
            </a:r>
            <a:endParaRPr sz="2000" b="1" i="0" dirty="0">
              <a:solidFill>
                <a:srgbClr val="22303C"/>
              </a:solidFill>
              <a:latin typeface="Google Sans Text"/>
            </a:endParaRPr>
          </a:p>
          <a:p>
            <a:pPr lvl="1">
              <a:spcAft>
                <a:spcPts val="900"/>
              </a:spcAft>
            </a:pP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Refinam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o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pedido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: ?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orderBy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=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nome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,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filtros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…</a:t>
            </a:r>
          </a:p>
          <a:p>
            <a:pPr>
              <a:spcAft>
                <a:spcPts val="200"/>
              </a:spcAft>
            </a:pPr>
            <a:r>
              <a:rPr sz="2000" b="1" i="0" dirty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 dirty="0" err="1">
                <a:solidFill>
                  <a:srgbClr val="22303C"/>
                </a:solidFill>
                <a:latin typeface="Google Sans Text"/>
              </a:rPr>
              <a:t>Resposta</a:t>
            </a:r>
            <a:r>
              <a:rPr sz="2000" b="1" i="0" dirty="0">
                <a:solidFill>
                  <a:srgbClr val="22303C"/>
                </a:solidFill>
                <a:latin typeface="Google Sans Text"/>
              </a:rPr>
              <a:t>: JSON + status</a:t>
            </a:r>
          </a:p>
          <a:p>
            <a:pPr lvl="1">
              <a:spcAft>
                <a:spcPts val="900"/>
              </a:spcAft>
            </a:pPr>
            <a:r>
              <a:rPr sz="1450" b="0" i="0" dirty="0">
                <a:solidFill>
                  <a:srgbClr val="5B6B7B"/>
                </a:solidFill>
                <a:latin typeface="Google Sans Text"/>
              </a:rPr>
              <a:t>200 = ok · 404 =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não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achado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· 500 =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erro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 do </a:t>
            </a:r>
            <a:r>
              <a:rPr sz="1450" b="0" i="0" dirty="0" err="1">
                <a:solidFill>
                  <a:srgbClr val="5B6B7B"/>
                </a:solidFill>
                <a:latin typeface="Google Sans Text"/>
              </a:rPr>
              <a:t>servidor</a:t>
            </a:r>
            <a:r>
              <a:rPr sz="1450" b="0" i="0" dirty="0">
                <a:solidFill>
                  <a:srgbClr val="5B6B7B"/>
                </a:solidFill>
                <a:latin typeface="Google Sans Text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REST = pedir por URL (GET) e receber JSON com um código de status.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Anatomia de uma chamada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Seu código faz um GET ao endpoint com parâmetros; o servidor responde 200 + JSON.</a:t>
            </a:r>
          </a:p>
        </p:txBody>
      </p:sp>
      <p:pic>
        <p:nvPicPr>
          <p:cNvPr id="8" name="Picture 7" descr="diagrama_api_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327685"/>
            <a:ext cx="10241280" cy="35285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Autenticação: chave, OAuth e o IBGE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Muitas APIs exigem identificar quem chama — o IBGE não.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Chave de API (API key)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Enviada em params ou header.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Regra: NUNCA hardcode a chave no script [Esppenchutz, p70].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OAuth / Bearer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Fluxo mais robusto para dados sensíveis.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APIs do Google [Esppenchutz, p73].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API do IBGE é aberta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Sem chave — simplifica hoje.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Mas guarde o alerta: volta com LLMs pagas.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Aberta hoje; mas 'não hardcode segredo' é lei para o resto do bloco.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Sua vez — que fonte e endpoint? (A3)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Para a SUA pergunta ESG: arquivo, API ou scraping?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Se API, qual endpoint do IBGE?  Sozinho 2' → par 3' → plenário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10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2 · Coleta via API em Python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 chamada básica (requests + json)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src/data_access.py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 dirty="0">
                <a:solidFill>
                  <a:srgbClr val="E8EEF6"/>
                </a:solidFill>
                <a:latin typeface="Consolas"/>
              </a:rPr>
              <a:t>import requests</a:t>
            </a:r>
          </a:p>
          <a:p>
            <a:pPr>
              <a:lnSpc>
                <a:spcPct val="115000"/>
              </a:lnSpc>
            </a:pPr>
            <a:r>
              <a:rPr sz="1500" b="0" i="0" dirty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 dirty="0" err="1">
                <a:solidFill>
                  <a:srgbClr val="E8EEF6"/>
                </a:solidFill>
                <a:latin typeface="Consolas"/>
              </a:rPr>
              <a:t>url</a:t>
            </a:r>
            <a:r>
              <a:rPr sz="1500" b="0" i="0" dirty="0">
                <a:solidFill>
                  <a:srgbClr val="E8EEF6"/>
                </a:solidFill>
                <a:latin typeface="Consolas"/>
              </a:rPr>
              <a:t> = "https://servicodados.ibge.gov.br/</a:t>
            </a:r>
            <a:r>
              <a:rPr sz="1500" b="0" i="0" dirty="0" err="1">
                <a:solidFill>
                  <a:srgbClr val="E8EEF6"/>
                </a:solidFill>
                <a:latin typeface="Consolas"/>
              </a:rPr>
              <a:t>api</a:t>
            </a:r>
            <a:r>
              <a:rPr sz="1500" b="0" i="0" dirty="0">
                <a:solidFill>
                  <a:srgbClr val="E8EEF6"/>
                </a:solidFill>
                <a:latin typeface="Consolas"/>
              </a:rPr>
              <a:t>/v1/</a:t>
            </a:r>
            <a:r>
              <a:rPr sz="1500" b="0" i="0" dirty="0" err="1">
                <a:solidFill>
                  <a:srgbClr val="E8EEF6"/>
                </a:solidFill>
                <a:latin typeface="Consolas"/>
              </a:rPr>
              <a:t>localidades</a:t>
            </a:r>
            <a:r>
              <a:rPr sz="1500" b="0" i="0" dirty="0">
                <a:solidFill>
                  <a:srgbClr val="E8EEF6"/>
                </a:solidFill>
                <a:latin typeface="Consolas"/>
              </a:rPr>
              <a:t>/</a:t>
            </a:r>
            <a:r>
              <a:rPr sz="1500" b="0" i="0" dirty="0" err="1">
                <a:solidFill>
                  <a:srgbClr val="E8EEF6"/>
                </a:solidFill>
                <a:latin typeface="Consolas"/>
              </a:rPr>
              <a:t>estados?orderBy</a:t>
            </a:r>
            <a:r>
              <a:rPr sz="1500" b="0" i="0" dirty="0">
                <a:solidFill>
                  <a:srgbClr val="E8EEF6"/>
                </a:solidFill>
                <a:latin typeface="Consolas"/>
              </a:rPr>
              <a:t>=</a:t>
            </a:r>
            <a:r>
              <a:rPr sz="1500" b="0" i="0" dirty="0" err="1">
                <a:solidFill>
                  <a:srgbClr val="E8EEF6"/>
                </a:solidFill>
                <a:latin typeface="Consolas"/>
              </a:rPr>
              <a:t>nome</a:t>
            </a:r>
            <a:r>
              <a:rPr sz="1500" b="0" i="0" dirty="0">
                <a:solidFill>
                  <a:srgbClr val="E8EEF6"/>
                </a:solidFill>
                <a:latin typeface="Consolas"/>
              </a:rPr>
              <a:t>"</a:t>
            </a:r>
          </a:p>
          <a:p>
            <a:pPr>
              <a:lnSpc>
                <a:spcPct val="115000"/>
              </a:lnSpc>
            </a:pPr>
            <a:r>
              <a:rPr sz="1500" b="0" i="0" dirty="0">
                <a:solidFill>
                  <a:srgbClr val="E8EEF6"/>
                </a:solidFill>
                <a:latin typeface="Consolas"/>
              </a:rPr>
              <a:t>resp = </a:t>
            </a:r>
            <a:r>
              <a:rPr sz="1500" b="0" i="0" dirty="0" err="1">
                <a:solidFill>
                  <a:srgbClr val="E8EEF6"/>
                </a:solidFill>
                <a:latin typeface="Consolas"/>
              </a:rPr>
              <a:t>requests.get</a:t>
            </a:r>
            <a:r>
              <a:rPr sz="1500" b="0" i="0" dirty="0">
                <a:solidFill>
                  <a:srgbClr val="E8EEF6"/>
                </a:solidFill>
                <a:latin typeface="Consolas"/>
              </a:rPr>
              <a:t>(</a:t>
            </a:r>
            <a:r>
              <a:rPr sz="1500" b="0" i="0" dirty="0" err="1">
                <a:solidFill>
                  <a:srgbClr val="E8EEF6"/>
                </a:solidFill>
                <a:latin typeface="Consolas"/>
              </a:rPr>
              <a:t>url</a:t>
            </a:r>
            <a:r>
              <a:rPr sz="1500" b="0" i="0" dirty="0">
                <a:solidFill>
                  <a:srgbClr val="E8EEF6"/>
                </a:solidFill>
                <a:latin typeface="Consolas"/>
              </a:rPr>
              <a:t>, timeout=20)</a:t>
            </a:r>
          </a:p>
          <a:p>
            <a:pPr>
              <a:lnSpc>
                <a:spcPct val="115000"/>
              </a:lnSpc>
            </a:pPr>
            <a:r>
              <a:rPr sz="1500" b="0" i="0" dirty="0" err="1">
                <a:solidFill>
                  <a:srgbClr val="E8EEF6"/>
                </a:solidFill>
                <a:latin typeface="Consolas"/>
              </a:rPr>
              <a:t>resp.raise_for_status</a:t>
            </a:r>
            <a:r>
              <a:rPr sz="1500" b="0" i="0" dirty="0">
                <a:solidFill>
                  <a:srgbClr val="E8EEF6"/>
                </a:solidFill>
                <a:latin typeface="Consolas"/>
              </a:rPr>
              <a:t>()      # </a:t>
            </a:r>
            <a:r>
              <a:rPr sz="1500" b="0" i="0" dirty="0" err="1">
                <a:solidFill>
                  <a:srgbClr val="E8EEF6"/>
                </a:solidFill>
                <a:latin typeface="Consolas"/>
              </a:rPr>
              <a:t>erro</a:t>
            </a:r>
            <a:r>
              <a:rPr sz="1500" b="0" i="0" dirty="0">
                <a:solidFill>
                  <a:srgbClr val="E8EEF6"/>
                </a:solidFill>
                <a:latin typeface="Consolas"/>
              </a:rPr>
              <a:t> se status != 2xx (</a:t>
            </a:r>
            <a:r>
              <a:rPr sz="1500" b="0" i="0" dirty="0" err="1">
                <a:solidFill>
                  <a:srgbClr val="E8EEF6"/>
                </a:solidFill>
                <a:latin typeface="Consolas"/>
              </a:rPr>
              <a:t>tratamento</a:t>
            </a:r>
            <a:r>
              <a:rPr sz="1500" b="0" i="0" dirty="0">
                <a:solidFill>
                  <a:srgbClr val="E8EEF6"/>
                </a:solidFill>
                <a:latin typeface="Consolas"/>
              </a:rPr>
              <a:t> de </a:t>
            </a:r>
            <a:r>
              <a:rPr sz="1500" b="0" i="0" dirty="0" err="1">
                <a:solidFill>
                  <a:srgbClr val="E8EEF6"/>
                </a:solidFill>
                <a:latin typeface="Consolas"/>
              </a:rPr>
              <a:t>erro</a:t>
            </a:r>
            <a:r>
              <a:rPr sz="1500" b="0" i="0" dirty="0">
                <a:solidFill>
                  <a:srgbClr val="E8EEF6"/>
                </a:solidFill>
                <a:latin typeface="Consolas"/>
              </a:rPr>
              <a:t>!)</a:t>
            </a:r>
          </a:p>
          <a:p>
            <a:pPr>
              <a:lnSpc>
                <a:spcPct val="115000"/>
              </a:lnSpc>
            </a:pPr>
            <a:r>
              <a:rPr sz="1500" b="0" i="0" dirty="0" err="1">
                <a:solidFill>
                  <a:srgbClr val="E8EEF6"/>
                </a:solidFill>
                <a:latin typeface="Consolas"/>
              </a:rPr>
              <a:t>estados</a:t>
            </a:r>
            <a:r>
              <a:rPr sz="1500" b="0" i="0" dirty="0">
                <a:solidFill>
                  <a:srgbClr val="E8EEF6"/>
                </a:solidFill>
                <a:latin typeface="Consolas"/>
              </a:rPr>
              <a:t> = </a:t>
            </a:r>
            <a:r>
              <a:rPr sz="1500" b="0" i="0" dirty="0" err="1">
                <a:solidFill>
                  <a:srgbClr val="E8EEF6"/>
                </a:solidFill>
                <a:latin typeface="Consolas"/>
              </a:rPr>
              <a:t>resp.json</a:t>
            </a:r>
            <a:r>
              <a:rPr sz="1500" b="0" i="0" dirty="0">
                <a:solidFill>
                  <a:srgbClr val="E8EEF6"/>
                </a:solidFill>
                <a:latin typeface="Consolas"/>
              </a:rPr>
              <a:t>()        # JSON -&gt; </a:t>
            </a:r>
            <a:r>
              <a:rPr sz="1500" b="0" i="0" dirty="0" err="1">
                <a:solidFill>
                  <a:srgbClr val="E8EEF6"/>
                </a:solidFill>
                <a:latin typeface="Consolas"/>
              </a:rPr>
              <a:t>lista</a:t>
            </a:r>
            <a:r>
              <a:rPr sz="1500" b="0" i="0" dirty="0">
                <a:solidFill>
                  <a:srgbClr val="E8EEF6"/>
                </a:solidFill>
                <a:latin typeface="Consolas"/>
              </a:rPr>
              <a:t> de </a:t>
            </a:r>
            <a:r>
              <a:rPr sz="1500" b="0" i="0" dirty="0" err="1">
                <a:solidFill>
                  <a:srgbClr val="E8EEF6"/>
                </a:solidFill>
                <a:latin typeface="Consolas"/>
              </a:rPr>
              <a:t>dicionários</a:t>
            </a:r>
            <a:endParaRPr sz="1500" b="0" i="0" dirty="0">
              <a:solidFill>
                <a:srgbClr val="E8EEF6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Da lista ao dicionário: por_id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A API devolve uma LISTA; viramos um DICIONÁRIO por id — a chave que junta os dados depois.</a:t>
            </a:r>
          </a:p>
        </p:txBody>
      </p:sp>
      <p:pic>
        <p:nvPicPr>
          <p:cNvPr id="8" name="Picture 7" descr="diagrama_lista_para_d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05" y="2057400"/>
            <a:ext cx="10186293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JSON aninhado, camada por camada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A resposta não é uma tabela: é caixa dentro de caixa. Cada acesso abre UMA camada até as series.</a:t>
            </a:r>
          </a:p>
        </p:txBody>
      </p:sp>
      <p:pic>
        <p:nvPicPr>
          <p:cNvPr id="8" name="Picture 7" descr="diagrama_json_aninh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05" y="2057400"/>
            <a:ext cx="10186293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Navegar o JSON aninhado (semi → tabela)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src/data_access.py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series = resp_pop.json()[0]["resultados"][0]["series"]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linhas = []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for s in series: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id_uf = int(s["localidade"]["id"])          # id vem como TEXTO -&gt; int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valor = int(list(s["serie"].values())[0])   # {"2025": "46081801"} -&gt; valor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linha = dict(por_id[id_uf]); linha["populacao_2025"] = valor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linhas.append(linha)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Do JSON à tabela: as 27 linhas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por_id + series casam pela mesma chave; cada volta do laço produz UMA linha da tabela.</a:t>
            </a:r>
          </a:p>
        </p:txBody>
      </p:sp>
      <p:pic>
        <p:nvPicPr>
          <p:cNvPr id="8" name="Picture 7" descr="diagrama_montar_tabe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05" y="2057400"/>
            <a:ext cx="10186293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Isolar a camada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coleta mora em src/data_access.py — longe da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Separação de camadas (SoC)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Dados em src/; interface em app.py.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o IBGE mudar o endpoint, mexe-se só no acesso.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Interface simples: carregar_dados()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Devolve (linhas, fonte).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app não sabe COMO os dados vêm — só pede.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Trocar a fonte não deve quebrar a tela — por isso separamos.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Anti-padrões de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Os erros clássicos ao consumir uma API — e como evitá-los.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Hardcode de chave/URL espalhado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Centralize; nunca versione segredos [Esppenchutz, p70].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Sem tratamento de erro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Um 500 vira dado corrompido silencioso. Use raise_for_status/try.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'Martelar' a API a cada clique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Use cache (a seguir). Respeite limites.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Misturar dados e interface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Separe em src/. E leia a doc (paginação!).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Código de coleta bom é defensivo: trata erro, não repete, e fica isolado.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🎬 Case v2 — os tropeços de 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Construir de verdade sempre revela surpresas — de novo.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JSON aninhado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resposta não era tabela; navegamos [0]['resultados'][0]['series'].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Tipos, de novo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id como texto ('35') → int(...) para casar com os estados.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 se a API cair na aula?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Decisão: cache/fallback (próximo bloco).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O dado real exige código defensivo — é para isso que as fases de dados existem.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3 · Visualização e robustez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Cache: não recoletar a cada clique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import streamlit as st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from src.data_access import carregar_dados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@st.cache_data(ttl=3600)    # guarda o resultado por 1 hora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def obter_dados():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return carregar_dados()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dados, fonte = obter_dados()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Filtro por região (st.multiselect)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regioes = sorted({l["regiao"] for l in dados})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selecionadas = st.multiselect("Filtrar por região", regioes, default=regioes)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filtrados = [l for l in dados if l["regiao"] in selecionadas]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Gráfico: população por UF (st.bar_chart)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ordenados = sorted(filtrados, key=lambda l: l['populacao_2025'], reverse=True)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st.bar_chart(ordenados, x="uf", y="populacao_2025")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st.bar_chart aceita a LISTA DE DICIONÁRIOS (x=/y=) -&gt; sem pandas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Robustez: fail gracefully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Um app não deve morrer porque a rede oscilou.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carregar_dados() tenta a API…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…e, se falhar, usa o cache (ufs_cache.json).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 avisa a fonte na tela.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Por que isso importa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Rede de sala é traiçoeira; produção também cai.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Degradar com elegância &gt; erro vermelho na frente da turma.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Fallback é a diferença entre 'quebrou' e 'está usando o cache'.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Temos o painel v2!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27 UFs coletadas ao vivo, filtro por região, métricas e gráfico — tudo em Python puro.</a:t>
            </a:r>
          </a:p>
        </p:txBody>
      </p:sp>
      <p:pic>
        <p:nvPicPr>
          <p:cNvPr id="8" name="Picture 7" descr="preview_painel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139" y="2057400"/>
            <a:ext cx="5641224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Voto — qual anti-padrão? (A4)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Mostro um trecho de código: qual anti-padrão ele comete?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Vote → convença o par → revote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8 min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Princípios que levamos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Três ideias que valem para qualquer coleta de dados.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Separação de camadas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Dados (src/) ≠ interface (app.py).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Troca a fonte sem quebrar a tela.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Fail gracefully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Cache/fallback: o app sobrevive à rede.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Sempre tenha um plano B para o dado.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Leituras cacheáveis (GET)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GET não muda o servidor → pode cachear.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DRY: uma função de coleta, reutilizada.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Coletar bem é tanto sobre robustez quanto sobre obter o dado.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caso, em 3 lições (v2)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que a iteração do Painel ODS nos ensinou.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API &gt; copiar à mão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Escala (27, 5.570 municípios), atualiza, não erra.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Código defensivo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Status, tipos, JSON aninhado — o dado real surpreende.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Robustez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Cache + fallback funcionam na sala e em produção.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Método + código defensivo + robustez = um painel que você confia.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Para a próxima etapa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E quando a fonte NÃO tiver API?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WebScraping (Etapa 4)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Extrair de páginas HTML quando não há API/arquivo.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Seu TP1 agora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Plugue o seu indicador/ODS sobre a base de hoje.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O caso continua: v3 = saneamento (ODS 6) e fontes sem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Em 3 frases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mapa mental da Etapa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Escolha a fonte certa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Arquivo × API × scraping — hoje, API do IBGE.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Colete com código defensivo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requests+json, status, tipos, JSON aninhado, camada isolada.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Visualize com robustez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Streamlit: filtro + gráfico; cache + fallback.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712712"/>
            <a:ext cx="9966960" cy="315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 dirty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 dirty="0">
                <a:solidFill>
                  <a:srgbClr val="17375E"/>
                </a:solidFill>
                <a:latin typeface="Google Sans Text"/>
              </a:rPr>
              <a:t>Da </a:t>
            </a:r>
            <a:r>
              <a:rPr sz="1450" b="1" i="0" dirty="0" err="1">
                <a:solidFill>
                  <a:srgbClr val="17375E"/>
                </a:solidFill>
                <a:latin typeface="Google Sans Text"/>
              </a:rPr>
              <a:t>pergunta</a:t>
            </a:r>
            <a:r>
              <a:rPr sz="1450" b="1" i="0" dirty="0">
                <a:solidFill>
                  <a:srgbClr val="17375E"/>
                </a:solidFill>
                <a:latin typeface="Google Sans Text"/>
              </a:rPr>
              <a:t> (Aula 1) </a:t>
            </a:r>
            <a:r>
              <a:rPr sz="1450" b="1" i="0" dirty="0" err="1">
                <a:solidFill>
                  <a:srgbClr val="17375E"/>
                </a:solidFill>
                <a:latin typeface="Google Sans Text"/>
              </a:rPr>
              <a:t>ao</a:t>
            </a:r>
            <a:r>
              <a:rPr sz="1450" b="1" i="0" dirty="0">
                <a:solidFill>
                  <a:srgbClr val="17375E"/>
                </a:solidFill>
                <a:latin typeface="Google Sans Text"/>
              </a:rPr>
              <a:t> dado real </a:t>
            </a:r>
            <a:r>
              <a:rPr sz="1450" b="1" i="0" dirty="0" err="1">
                <a:solidFill>
                  <a:srgbClr val="17375E"/>
                </a:solidFill>
                <a:latin typeface="Google Sans Text"/>
              </a:rPr>
              <a:t>na</a:t>
            </a:r>
            <a:r>
              <a:rPr sz="1450" b="1" i="0" dirty="0">
                <a:solidFill>
                  <a:srgbClr val="17375E"/>
                </a:solidFill>
                <a:latin typeface="Google Sans Text"/>
              </a:rPr>
              <a:t> </a:t>
            </a:r>
            <a:r>
              <a:rPr sz="1450" b="1" i="0" dirty="0" err="1">
                <a:solidFill>
                  <a:srgbClr val="17375E"/>
                </a:solidFill>
                <a:latin typeface="Google Sans Text"/>
              </a:rPr>
              <a:t>tela</a:t>
            </a:r>
            <a:r>
              <a:rPr sz="1450" b="1" i="0" dirty="0">
                <a:solidFill>
                  <a:srgbClr val="17375E"/>
                </a:solidFill>
                <a:latin typeface="Google Sans Text"/>
              </a:rPr>
              <a:t> (Aula </a:t>
            </a:r>
            <a:r>
              <a:rPr lang="pt-BR" sz="1450" b="1" i="0" dirty="0">
                <a:solidFill>
                  <a:srgbClr val="17375E"/>
                </a:solidFill>
                <a:latin typeface="Google Sans Text"/>
              </a:rPr>
              <a:t>3</a:t>
            </a:r>
            <a:r>
              <a:rPr sz="1450" b="1" i="0" dirty="0">
                <a:solidFill>
                  <a:srgbClr val="17375E"/>
                </a:solidFill>
                <a:latin typeface="Google Sans Text"/>
              </a:rPr>
              <a:t>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Bilhete de saída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Em 2 linhas: qual fonte (API/arquivo/scraping) você usará no TP1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e por quê?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3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3037</Words>
  <Application>Microsoft Office PowerPoint</Application>
  <PresentationFormat>Widescreen</PresentationFormat>
  <Paragraphs>334</Paragraphs>
  <Slides>35</Slides>
  <Notes>35</Notes>
  <HiddenSlides>3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Consolas</vt:lpstr>
      <vt:lpstr>Google Sans Text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Renan Silva Santos</cp:lastModifiedBy>
  <cp:revision>4</cp:revision>
  <cp:lastPrinted>2026-08-06T23:09:56Z</cp:lastPrinted>
  <dcterms:created xsi:type="dcterms:W3CDTF">2013-01-27T09:14:16Z</dcterms:created>
  <dcterms:modified xsi:type="dcterms:W3CDTF">2026-08-07T00:59:28Z</dcterms:modified>
  <cp:category/>
</cp:coreProperties>
</file>