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4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922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Boas-vindas. Hoje o painel deixa de existir só na sua máquina. [0–1]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Recap. [ASK: quem conseguiu rodar em casa? quem travou em quê?] [1–3]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CASO v3 (case-study.md). Leia o e-mail em voz alta. [3–6]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[ASK] Deixe a turma errar: 'internet?', 'servidor?', 'instalar Python nela?'. Colha 3 palpites no quadro. A resposta — ambiente declarado + repositório + serviço que executa por você — é o mapa da aula. [6–8]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Trilha com a Etapa 3 destacada. Progressão sempre visível. [8–9]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Transversal: IA como copiloto. [9–11]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[ASK: quem já tem conta no GitHub? quem já publicou algo na internet?] Calibra o ritmo do B4. [11–12]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Antes de publicar: o que exatamente precisa viajar junto com o código? [12]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[BOARD: programa = código + Python + bibliotecas + versões + dados + config] [12–15]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Percorra a coluna da esquerda item a item ANTES de mostrar a direita. [15–17]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[ASK: e os dados? o ufs_cache.json entra? → SIM: é o fallback, faz parte do comportamento do app.] [17–21]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urllib3 foi pego pelo verificar_ambiente.py durante a preparação desta aula — caso real. [ASK: por que '&gt;=' e não '=='? (&gt;= aceita correções; == congela e envelhece. Em produção séria: congela.)] [21–24]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APROFUNDAMENTO (camada crítica). [24–26]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Duas primeiras linhas = peso. Duas últimas = segurança. AVISO: .gitignore NÃO remove o que já está rastreado → git rm -r --cached .venv. [26–28]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Localmente os dois funcionam; no servidor, só o segundo. Por isso o bug só aparece DEPOIS de publicar. [BOARD: __file__ = onde o código está · cwd = de onde você chamou] [28–30]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A5 (activities.md + key). Debrief: reconstruível × necessário × secreto. Termine perguntando quem tem .venv/ rastreado no próprio projeto. [30–33]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GUIADO no terminal. Plano B (GitHub pelo navegador) no instructor-guide. [33]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APROFUNDAMENTO se a turma dominar Git. [33–35]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livro só traz o comando do macOS [p175] — daí os outros dois. user.name/user.email é o que assina cada commit. [35–37]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git status ANTES e DEPOIS do .gitignore — a diferença entre 8 arquivos e 3.800 é a demonstração mais eficiente da aula. [37–42]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[Richards, p183]. Se a autenticação falhar na rede da escola, vá para o plano B. [42–48]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ANTI-PADRÕES. [48–52]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pagamento de tudo que fizemos até aqui. [52]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CAMADA COMPARATIVA. [52–55]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[ASK: com esses 4 itens dá para explicar QUALQUER falha de deploy. Quais vocês imaginam?] Colher: repo privado, branch errada, arquivo errado, dependência faltando. É o material da A6. [55–59]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Faça ao vivo. Enquanto constrói (1–2 min), passe ao próximo slide. [59–63]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Demonstre ao vivo. Este é o momento 'aha' da aula. [63–66]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Prepare a turma para quebrar — vai quebrar, e é aí que se aprende. [66–69]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[Richards, p189, p191]. Fecha o arco aberto na Aula 2 com Esppenchutz [p70]. st.stop() também é a ferramenta de controle de fluxo do Cap. 2 [Richards, p77]. [69–72]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[ASK: commitei a chave e apaguei depois. Estou seguro? → NÃO]. É o ponto que mais choca a turma — use. [72–74]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Peer instruction. RESPOSTA: B. Peça que apontem NO LOG a linha que sustenta a hipótese. Gabarito completo em activities-key.md. [74–78]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Amarre ao TP2. O botão GitHub e o Share vêm de graça em repositório público [Richards, p365]. [78–79]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PRINCÍPIOS. [79–83]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Payoff do caso (case-study.md). [83–86]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APROFUNDAMENTO / ponte. [86–87]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Peça a um aluno para resumir. [87–88]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Recolha. É o que permite começar a Aula 6 com a turma inteira no ar. [88–90]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infnet_30an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9549"/>
            <a:ext cx="3108960" cy="803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10312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oogle Sans Text"/>
              </a:rPr>
              <a:t>Do meu computador para a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7091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Google Sans Text"/>
              </a:rPr>
              <a:t>Projeto de Bloco: Inteligência Artificial Aplicada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Aula 5 · Etapa 3 · Ambiente e publicação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Prof. Renan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paramos (Aula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painel coleta dados de verdade — e roda perfeitamente… no seu laptop.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Coleta real via API do IBGE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27 UFs, ao vivo, com requests + json.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Sem pandas: lista de dicionários.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Visualização e robustez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Filtro por região, métricas, gráfico.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@st.cache_data + fallback para o cache local.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Uma condição escondida no 'funciona'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Funciona em QUEM tem Python, as bibliotecas certas, nas versões certas.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essa condição que cai hoje.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 Competência 1 terminou em 'eu vejo os dados'. Hoje começa 'outra pessoa vê'.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🎬 O e-mail que muda tudo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gestora da ONG viu o painel na reunião — e pediu o link.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"Pode mandar o link para o pessoal da secretaria?"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Não existe link. Existe uma pasta e um comando.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streamlit run app.py só funciona para quem tem o ambiente.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Ela não vai instalar Python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Nem deveria: quem usa um painel não deveria precisar montá-lo.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atrito está do NOSSO lado.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pergunta da aula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que falta entre 'roda aqui' e 'qualquer pessoa abre no navegador'?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Sem deploy, o trabalho existe — mas só para você.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'roda aqui'  →  ???  →  'qualquer pessoa abre'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089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B6B7B"/>
                </a:solidFill>
                <a:latin typeface="Google Sans Text"/>
              </a:rPr>
              <a:t>(espaço para anotações na lousa)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estamos no Projeto de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Etapa 3: configuração do ambiente. Começa a Competência 2 — e o TP2.</a:t>
            </a:r>
          </a:p>
        </p:txBody>
      </p:sp>
      <p:pic>
        <p:nvPicPr>
          <p:cNvPr id="8" name="Picture 7" descr="trilha_10_etapas_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935224"/>
            <a:ext cx="10241280" cy="23134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Cinco capacidades — tudo o que separa o laptop da internet.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Montar um ambiente reprodutível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venv + requirements.txt + .gitignore.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Preparar o projeto para deploy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Caminhos robustos, dependências declaradas.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Publicar o repositório no GitHub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init → add → commit → remote → push.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Implantar no Streamlit Community Cloud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atualizar com um novo push.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Separar segredo de código e ler logs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st.secrets; diagnosticar quando quebrar.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entregável muda: TP2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Competência 2 não aceita print de tela — ela pede artefatos vivos.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TP1 (Comp. 1): um PDF do projeto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prova de que funciona era a sua palavra + um print.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TP2 (Comp. 2): PDF + repositório + app no ar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prova de que funciona é qualquer pessoa abrir a URL.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Abre nesta Etapa 3 e fecha na Etapa 4 (WebScraping).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Ao fim de hoje você tem um link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Para mandar para a gestora — e para colocar no seu portfólio.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Publicar deixou de ser opcional: virou parte do entregável.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1 · Ambiente reprodutível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Um programa não é só o seu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código + Python + bibliotecas + versões + dados + configuração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Quando você diz 'funciona'…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…você diz: funciona NESTA combinação.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Mude qualquer peça e a frase pode virar mentira.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Reprodutibilidade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Qualquer pessoa recria a combinação a partir do que está DECLARADO no repositório.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Inclusive você, em outra máquina — e o servidor do Community Cloud.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teste que resolve a dúvida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eu apagar a sua .venv agora, você reconstrói? com qual arquivo?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'Funciona na minha máquina' não é desculpa: é o nome de um defeito.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vai (e o que não vai) para o repositório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O ambiente não é COPIADO — é RECONSTRUÍDO a partir da receita.</a:t>
            </a:r>
          </a:p>
        </p:txBody>
      </p:sp>
      <p:pic>
        <p:nvPicPr>
          <p:cNvPr id="8" name="Picture 7" descr="diagrama_ambiente_rep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As três peças do ambiente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Cada uma responde a uma pergunta diferente — e a falta de qualquer uma quebra o deploy.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venv — ONDE as bibliotecas moram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python -m venv .venv. Isola este projeto dos outros.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NÃO vai para o Git: é reconstruível, e é compilado para UM sistema operacional.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requirements.txt — QUAIS bibliotecas, em que versão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a receita. VAI para o Git.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Sem ele o servidor não instala nada → ModuleNotFoundError [Richards, p183].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.gitignore — o que NÃO entra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.venv/, __pycache__/ (peso) e secrets.toml, .env (segurança).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Precisa existir ANTES do primeiro git add.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Versiona-se o necessário para funcionar; nunca o reconstruível nem o secreto.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 receita do ambiente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requirements.txt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streamlit&gt;=1.40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requests&gt;=2.28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urllib3&gt;=2.0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urllib3 já vem junto com requests — MAS nós o importamos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diretamente em src/data_access.py. O que se importa, se declara.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Regra: instalou biblioteca nova -&gt; acrescenta AQUI na mesma hora.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À mão ou automático? (pipreqs)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livro recomenda gerar o requirements.txt automaticamente. Nós escrevemos à mão — de propósito.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o livro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pip install pipreqs; pipreqs . — lê os imports e escreve o arquivo [Richards, p183–184].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Ótimo para projetos grandes, onde ninguém lembra de tudo.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Por que aqui escrevemos à mão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pipreqs vê imports; dependências INDIRETAS podem escapar.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ele grava as versões DA SUA MÁQUINA, que podem ser mais novas que o necessário.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Com 3 dependências, à mão é mais honesto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Você entende cada linha — e é isso que o TP2 vai cobrar.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Automatizar é bom quando você já sabe o que a automação faz por você.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nunca entra no repositório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.gitignore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peso: reconstruível / gerado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.venv/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__pycache__/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*.py[cod]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SEGURANÇA: o repositório do Community Cloud é PÚBLICO por padrão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.streamlit/secrets.toml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.env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Caminhos que sobrevivem à mudança de máquina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src/data_access.py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frágil: resolvido a partir de ONDE você rodou o comando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CACHE = "data/sample/ufs_cache.json"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robusto: ancorado no PRÓPRIO arquivo .py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BASE = Path(__file__).resolve().parent.parent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CACHE = BASE / "data" / "sample" / "ufs_cache.json"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Auditoria de repositório (A5)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Na listagem do slide: o que SOBRA (peso / segurança / irrelevante)?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O que FALTA — e o que quebra no deploy sem isso?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Qual é o problema MAIS GRAVE?   Sozinho 3' → par 3' → plenário 4'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10 min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2 · Do projeto ao repositório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Recap de 60 segundos: Git ≠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Retomando o mini-deck da Aula 2 — agora aplicado ao projeto de verdade.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Git = versionamento NA SUA MÁQUINA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GitHub = hospedagem NA NUVEM.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Nada sincroniza sozinho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push é você quem dá. salvar ≠ commit ≠ push.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basta saber hoje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'criar repositórios e atualizá-los conforme atualizamos a aplicação' [Richards, p174].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repositório deixa de ser exercício e vira a fonte do que está publicado.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Instalar e assinar seus commits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Windows: https://git-scm.com/download/win   (ou: winget install Git.Git)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macOS:   brew install git                          [Richards, p175]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Linux:   sudo apt install git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config --global user.name  "Seu Nome"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config --global user.email seu@email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primeiro repositório do projeto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cd demo/painel_ods_brasil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init -b main            # 'main', não 'master'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&gt;&gt;&gt; criar o .gitignore ANTES do primeiro add &lt;&lt;&lt;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status                  # confira o que vai entrar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add .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commit -m "Painel ODS v3: pronto para publicar"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Conectar ao GitHub e enviar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no site: New repository -&gt; nome -&gt; Create repository   [Richards, p180-181]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remote add origin https://github.com/SEU_USUARIO/painel-ods-brasil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push -u origin main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origin = apelido da URL remota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-u grava o vínculo: dali em diante basta 'git push'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ciclo, dali em diante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add → commit → push. Três comandos que você vai repetir pelo resto do bloco.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git add 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Escolhe o que entra na próxima versão.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git commit -m "…"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Salva a versão. A mensagem diz O QUE mudou e por quê.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'use git add (…), git commit -m (…), and then finally, git push' [Richards, p183].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ANTI-PADRÃO: um commit gigante 'subi tudo'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histórico existe para você poder VOLTAR.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Commit grande demais não te deixa voltar a lugar nenhum útil.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Commits pequenos e descritivos são um favor que você faz a si mesmo no futuro.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3 · Publicar no Streamlit Community Cloud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Três formas de publicar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Escolha consciente — e a nossa é a gratuita e mais simples.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Streamlit Community Cloud — grátis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'easiest and preferred method for most Streamlit users' [Richards, p172].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Nossa escolha: protótipo, portfólio, TP.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AWS / Heroku — pago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Controle de recursos, requisitos corporativos.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Cap. 8 do livro; fora do escopo do bloco.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Hugging Face Spaces — grátis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Forte para apps de modelos/ML. Alternativa real.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Volta a fazer sentido nas Etapas 8–10 (LLMs).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Grátis, com 1 GB de RAM por app [Richards, p267] — de sobra para o Painel 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contrato de quatro itens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'Streamlit Community Cloud runs using GitHub' [Richards, p174] — por isso o §2 veio antes.</a:t>
            </a:r>
          </a:p>
        </p:txBody>
      </p:sp>
      <p:pic>
        <p:nvPicPr>
          <p:cNvPr id="8" name="Picture 7" descr="diagrama_deploy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fluxo, passo a passo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Não decore botões — a interface muda. Entenda o que o serviço precisa saber.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1 · share.streamlit.io, entrar com o GitHub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Cadastro gratuito em share.streamlit.io/signup [Richards, p173].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2 · New app → repositório · branch · arquivo principal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No nosso caso: painel-ods-brasil · main · app.py [Richards, p185].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3 · Deploy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Ele clona o repo, instala o requirements.txt e executa o app.py.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Devolve uma URL própria — a sua.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Quatro perguntas, quatro respostas. Se ele reclamar, falta uma delas.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hábito novo: git push é publicar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'Whenever we make changes to the GitHub repository, we will see such changes reflected in the app.' [Richards, p185]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Mude o título, salve, e: add → commit → push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Volte à URL e recarregue.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'It may take a couple of minutes for the app to reload!' [Richards, p187]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rodapé do app mostra a versão publicada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como você confirma, olhando a página, que o push chegou lá.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consequência que muda tudo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repositório é a FONTE DA VERDADE do que está no 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não está commitado, não está no 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Não existe 'subir o arquivo no servidor'. Existe commitar e empurrar.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Quando quebra: leia o log antes de mexer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Manage app → logs; dali dá para reiniciar, excluir e baixar os logs [Richards, p188].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ModuleNotFoundError: No module named 'X'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Dependência não declarada → acrescente ao requirements.txt e dê push.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FileNotFoundError: … .json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Caminho relativo ao diretório de execução → ancore em Path(__file__).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Error installing requirements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Versão inexistente ou erro de digitação → corrija a linha e dê push.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Regra de ouro do diagnóstico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Leia a ÚLTIMA linha do traceback antes de mudar qualquer coisa.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 resposta está no log, não no palpite. [Richards, p80: depure com st.write()]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Segredo fora do código: st.secrets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❌ SENHA = "minha-senha"      # vai para o repositório PÚBLICO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✅ o segredo mora fora do código: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if st.text_input("Senha", type="password") != st.secrets["senha"]: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st.stop()                  # interrompe o script aqui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local: .streamlit/secrets.toml  (no .gitignore!)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no ar: Edit secrets, no painel do Community Cloud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Segredo commitado não se apaga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'the default in Streamlit Community Cloud is to use public GitHub repositories with entirely public code, data, and models.' [Richards, p188]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Tudo que você commita está publicado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Não é 'ficará exposto se alguém procurar'. Está exposto agora.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Apagar no commit seguinte NÃO resolve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histórico do Git guarda a versão anterior — é o trabalho dele.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chave precisa ser REVOGADA e trocada.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Por que aprender isso hoje, sem chave nenhuma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API do IBGE é aberta: dá para errar sem custo.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No TP2 e nas Etapas de LLM, o erro custa dinheiro.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Trate tudo que você commita como publicado — porque está.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Por que este deploy falhou? (A6)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Leia o log do slide. Qual é a causa?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A) repositório privado   B) requirements.txt não lista requests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C) arquivo principal errado   D) API do IBGE fora do ar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Vote (30s) → convença o par (2-3 min) → revote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8 min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Temos o painel no ar!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Mesma tela da Aula 2 — mas agora com uma URL que qualquer pessoa abre.</a:t>
            </a:r>
          </a:p>
        </p:txBody>
      </p:sp>
      <p:pic>
        <p:nvPicPr>
          <p:cNvPr id="8" name="Picture 7" descr="mock_app_public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Princípios que levamos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Quatro ideias que valem para qualquer projeto que precise sair da sua máquina.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Reprodutibilidade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ambiente é DECLARADO, não copiado.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não está declarado, não existe.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Paridade dev/prod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que roda aqui tem de rodar lá.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Toda diferença vira configuração explícita — nunca linha escondida.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Segredo ≠ código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Repositório público é o padrão; o histórico não esquece.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Publicar cedo e frequentemente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App imperfeito no ar recebe feedback; app perfeito no laptop não recebe nada.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Publicar é engenharia — e é o que transforma análise em produto.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🎬 O caso, em 3 lições (v3)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que a preparação DESTE material revelou — tropeços reais, não hipotéticos.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verify=False que salvou a Aula 2 virou risco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Workaround de rede escolar, versionado em repositório público.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Virou configuração com padrão seguro. Todo workaround tem prazo de validade.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requirements.txt incompleto derrubou o primeiro deploy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requests estava instalado localmente e ausente do arquivo.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a definição operacional de 'funciona na minha máquina'.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caminho relativo só quebrou DEPOIS de publicar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fallback falhava justamente quando mais importava.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Método + ambiente declarado + segredo fora do código = um app que você publica sem medo.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Para a próxima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painel está no ar — mas quem abre o link não consegue explorar.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Interação dinâmica (Aula 6)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Botões, seletores, slider, formulário e memória de sessão.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 o melhor: cada melhoria vai ao ar na frente de vocês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git push → o app publicado muda. Sem cerimônia.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Seu TP2 agora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Publique o SEU projeto e traga a URL na próxima aula.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caso continua: v4 = o painel que responde ao usuário.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Em 3 frases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mapa mental da Aula 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Declare o ambiente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venv + requirements.txt + .gitignore — a receita, não a cópia.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Publique pelo repositório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GitHub é a porta de entrada do Community Cloud.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Empurre para publicar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git push atualiza o app; segredo nunca vai junto.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Do laptop (Aula 2) à URL pública (hoje).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Bilhete de saída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Cole a URL do seu repositório — e a do app, se já publicou.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Se travou: em QUE passo, e qual foi a mensagem exata?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3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4002</Words>
  <Application>Microsoft Office PowerPoint</Application>
  <PresentationFormat>Widescreen</PresentationFormat>
  <Paragraphs>401</Paragraphs>
  <Slides>37</Slides>
  <Notes>37</Notes>
  <HiddenSlides>3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Consolas</vt:lpstr>
      <vt:lpstr>Google Sans Text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Renan Silva Santos</cp:lastModifiedBy>
  <cp:revision>2</cp:revision>
  <cp:lastPrinted>2026-08-20T11:50:04Z</cp:lastPrinted>
  <dcterms:created xsi:type="dcterms:W3CDTF">2013-01-27T09:14:16Z</dcterms:created>
  <dcterms:modified xsi:type="dcterms:W3CDTF">2026-08-21T01:00:01Z</dcterms:modified>
  <cp:category/>
</cp:coreProperties>
</file>